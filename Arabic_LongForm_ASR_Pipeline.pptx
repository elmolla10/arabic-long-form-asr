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Raw WER</c:v>
                </c:pt>
              </c:strCache>
            </c:strRef>
          </c:tx>
          <c:spPr>
            <a:solidFill>
              <a:srgbClr val="64748B"/>
            </a:solidFill>
            <a:effectLst/>
          </c:spPr>
          <c:invertIfNegative val="0"/>
          <c:dLbls>
            <c:numFmt formatCode="0.00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60s no ctx</c:v>
                  </c:pt>
                  <c:pt idx="1">
                    <c:v>60s + ctx</c:v>
                  </c:pt>
                  <c:pt idx="2">
                    <c:v>30s no ctx</c:v>
                  </c:pt>
                </c:lvl>
              </c:multiLvlStrCache>
            </c:multiLvlStrRef>
          </c:cat>
          <c:val>
            <c:numRef>
              <c:f>Sheet1!$B$2:$B$4</c:f>
              <c:numCache>
                <c:formatCode>General</c:formatCode>
                <c:ptCount val="3"/>
                <c:pt idx="0">
                  <c:v>0.5414</c:v>
                </c:pt>
                <c:pt idx="1">
                  <c:v>0.625</c:v>
                </c:pt>
                <c:pt idx="2">
                  <c:v>0.5621</c:v>
                </c:pt>
              </c:numCache>
            </c:numRef>
          </c:val>
        </c:ser>
        <c:ser>
          <c:idx val="1"/>
          <c:order val="1"/>
          <c:tx>
            <c:strRef>
              <c:f>Sheet1!$C$1</c:f>
              <c:strCache>
                <c:ptCount val="1"/>
                <c:pt idx="0">
                  <c:v>Normalized WER</c:v>
                </c:pt>
              </c:strCache>
            </c:strRef>
          </c:tx>
          <c:spPr>
            <a:solidFill>
              <a:srgbClr val="065A82"/>
            </a:solidFill>
            <a:effectLst/>
          </c:spPr>
          <c:invertIfNegative val="0"/>
          <c:dLbls>
            <c:numFmt formatCode="0.00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60s no ctx</c:v>
                  </c:pt>
                  <c:pt idx="1">
                    <c:v>60s + ctx</c:v>
                  </c:pt>
                  <c:pt idx="2">
                    <c:v>30s no ctx</c:v>
                  </c:pt>
                </c:lvl>
              </c:multiLvlStrCache>
            </c:multiLvlStrRef>
          </c:cat>
          <c:val>
            <c:numRef>
              <c:f>Sheet1!$C$2:$C$4</c:f>
              <c:numCache>
                <c:formatCode>General</c:formatCode>
                <c:ptCount val="3"/>
                <c:pt idx="0">
                  <c:v>0.4926</c:v>
                </c:pt>
                <c:pt idx="1">
                  <c:v>0.5645</c:v>
                </c:pt>
                <c:pt idx="2">
                  <c:v>0.5153</c:v>
                </c:pt>
              </c:numCache>
            </c:numRef>
          </c:val>
        </c:ser>
        <c:dLbls>
          <c:numFmt formatCode="0.00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93B"/>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an ASR improvement and evaluation pipeline. The goal is not just transcribing audio — it is building a measurable system that handles 30+ minute Arabic recordings and gives quality numbers we can defend with experiments. Long-form Arabic ASR specifically. Briefly mention an optional clipper as a downstream application, but the focus today is the pipeline and the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Long-form Arabic ASR is both a model problem and a pipeline problem. Whisper-style models are optimized around short audio windows, typically around 30 seconds. The moment you point them at a 30-minute lecture, you have to decide how to chunk, how to handle boundaries, how to stitch transcripts back, and how to evaluate the result. On top of that, Arabic adds language-specific challenges: diacritics, the four shapes of alef, taa marbouta versus haa, alef maqsura versus yaa, hamza variants, and domain-specific vocabulary. Both layers have to be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the spine of the project. They split into pipeline-level work — chunking, reconstruction, normalization — and model-level work, which is the fine-tuning. Both layers have to be measurable, which is why every experiment uses the same WER and CER protocol. The point of normalization is to make the WER fair: spelling variation in Arabic should not look like an ASR error when it is just orthographic.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pipeline. From left: audio is extracted, the signal is chunked into windows of fixed length with overlap, each chunk is transcribed by Whisper, and an optional context prompt can be passed to bias decoding. Then the transcript is reconstructed across chunks, Arabic normalization is applied, and WER and CER are computed against the reference. The last block on the right is an optional clipper for downstream digital-media use — it is not part of the evaluation. Today's results are from steps 3 through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Normalization makes WER fair. In Arabic, the same word can be spelled in multiple legitimate ways: with or without diacritics, with different alef shapes, with taa marbouta versus haa at the end, with alef maqsura versus regular yaa. If we evaluate without normalizing, the model gets penalized for orthographic variation that is not actually a transcription error. This stage strips tashkeel, unifies alef variants, normalizes ya and ha endings, removes hamza variation, and cleans punctuation. The same normalization is applied identically to both reference and hypothesis before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FLEURS is a public, multilingual ASR benchmark from Google. The Arabic Egypt split gives us trusted audio with verified transcripts, which removes the risk of evaluating against noisy ground truth. For the long-form test, 167 validation clips were concatenated into one continuous 30-minute audio file, with the reference built by concatenating the same transcripts in order. That gives a clean, reproducible 30-minute test bed. A separate set of 20 held-out validation samples was used as the evaluation set for the fine-tuning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experiments split cleanly into two layers. E0 through E3 plus E7 are pipeline experiments — they test how chunk size, prompting, and normalization affect transcription quality without changing the model. E4 through E6 are model-level — they fine-tune Whisper on FLEURS Arabic and test whether more training data and augmentation help. Together they tell us whether a given improvement is from engineering or from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configurations were tested on the same 30-minute audio. The best result was 60-second chunks with 2-second overlap and no context prompt: normalized WER 0.4926, normalized CER 0.2069. Adding a 24-word context prompt actually made things worse — normalized WER went up to 0.5645. The likely explanation is error propagation: a wrong word in the prompt biases the next chunk's decoding. Cutting chunk size to 30s also hurt, probably because the model lost the long-range linguistic context it uses internally. So for long-form Arabic on Whisper base, the practical takeaway is: chunk wider, avoid prompt biasing.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improved when Arabic normalization was applied — the gain ranges from 0.0468 to 0.0605 in absolute WER. That confirms a meaningful chunk of the 'errors' Whisper appears to make on Arabic are not transcription errors at all; they are orthographic variants like alef shape or ya/alef-maqsura. Without normalization, you would punish the model for things that are not really errors. This is why every WER number on the previous slide and the next slide is reported in normalized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fine-tuning runs on the held-out 20-sample evaluation set. E4 used 50 training samples and gave normalized WER 0.2671. E5 tripled the training set to 150 samples and dropped normalized WER to 0.2508 — that is the best model-level result. E6 added augmentation on the same 150 samples but produced identical WER and CER. The honest reading: at this small scale, augmentation neither helped nor hurt — it likely needs a larger experiment to show its effect. The headline is that more Arabic training data clearly improved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summary. Five things worked: the pipeline ran end-to-end on 30 minutes, 60s chunks beat 30s, normalization always helped, fine-tuning improved over baseline, and more data improved over less. Two things did not work: prompt context made the long-form WER worse, and augmentation gave no measurable lift on the small fine-tune. I am reporting both deliberately. The point of an evaluation pipeline is to know what helps and what does not — not to defend the things you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project is now experimentally grounded and focused on ASR quality. We built a pipeline, ran eight structured experiments, and reported every result honestly — including the two things that did not work. The next steps are clear: combine the fine-tuned model with the long-form pipeline, scale the training data, test domain audio like khutbahs and lectures, add punctuation restoration and diarization, and benchmark stronger Whisper variants.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E2C4A"/>
          </a:solidFill>
          <a:ln w="12700">
            <a:solidFill>
              <a:srgbClr val="0E2C4A"/>
            </a:solidFill>
            <a:prstDash val="solid"/>
          </a:ln>
        </p:spPr>
      </p:sp>
      <p:sp>
        <p:nvSpPr>
          <p:cNvPr id="3" name="Shape 1"/>
          <p:cNvSpPr/>
          <p:nvPr/>
        </p:nvSpPr>
        <p:spPr>
          <a:xfrm>
            <a:off x="365760" y="3154680"/>
            <a:ext cx="73152" cy="548640"/>
          </a:xfrm>
          <a:prstGeom prst="rect">
            <a:avLst/>
          </a:prstGeom>
          <a:solidFill>
            <a:srgbClr val="F4A261"/>
          </a:solidFill>
          <a:ln w="12700">
            <a:solidFill>
              <a:srgbClr val="1C7293"/>
            </a:solidFill>
            <a:prstDash val="solid"/>
          </a:ln>
        </p:spPr>
      </p:sp>
      <p:sp>
        <p:nvSpPr>
          <p:cNvPr id="4" name="Shape 2"/>
          <p:cNvSpPr/>
          <p:nvPr/>
        </p:nvSpPr>
        <p:spPr>
          <a:xfrm>
            <a:off x="512064" y="2926080"/>
            <a:ext cx="73152" cy="1005840"/>
          </a:xfrm>
          <a:prstGeom prst="rect">
            <a:avLst/>
          </a:prstGeom>
          <a:solidFill>
            <a:srgbClr val="1C7293"/>
          </a:solidFill>
          <a:ln w="12700">
            <a:solidFill>
              <a:srgbClr val="1C7293"/>
            </a:solidFill>
            <a:prstDash val="solid"/>
          </a:ln>
        </p:spPr>
      </p:sp>
      <p:sp>
        <p:nvSpPr>
          <p:cNvPr id="5" name="Shape 3"/>
          <p:cNvSpPr/>
          <p:nvPr/>
        </p:nvSpPr>
        <p:spPr>
          <a:xfrm>
            <a:off x="658368" y="3017520"/>
            <a:ext cx="73152" cy="822960"/>
          </a:xfrm>
          <a:prstGeom prst="rect">
            <a:avLst/>
          </a:prstGeom>
          <a:solidFill>
            <a:srgbClr val="1C7293"/>
          </a:solidFill>
          <a:ln w="12700">
            <a:solidFill>
              <a:srgbClr val="1C7293"/>
            </a:solidFill>
            <a:prstDash val="solid"/>
          </a:ln>
        </p:spPr>
      </p:sp>
      <p:sp>
        <p:nvSpPr>
          <p:cNvPr id="6" name="Shape 4"/>
          <p:cNvSpPr/>
          <p:nvPr/>
        </p:nvSpPr>
        <p:spPr>
          <a:xfrm>
            <a:off x="804672" y="2697480"/>
            <a:ext cx="73152" cy="1463040"/>
          </a:xfrm>
          <a:prstGeom prst="rect">
            <a:avLst/>
          </a:prstGeom>
          <a:solidFill>
            <a:srgbClr val="F4A261"/>
          </a:solidFill>
          <a:ln w="12700">
            <a:solidFill>
              <a:srgbClr val="1C7293"/>
            </a:solidFill>
            <a:prstDash val="solid"/>
          </a:ln>
        </p:spPr>
      </p:sp>
      <p:sp>
        <p:nvSpPr>
          <p:cNvPr id="7" name="Shape 5"/>
          <p:cNvSpPr/>
          <p:nvPr/>
        </p:nvSpPr>
        <p:spPr>
          <a:xfrm>
            <a:off x="950976" y="2880360"/>
            <a:ext cx="73152" cy="1097280"/>
          </a:xfrm>
          <a:prstGeom prst="rect">
            <a:avLst/>
          </a:prstGeom>
          <a:solidFill>
            <a:srgbClr val="1C7293"/>
          </a:solidFill>
          <a:ln w="12700">
            <a:solidFill>
              <a:srgbClr val="1C7293"/>
            </a:solidFill>
            <a:prstDash val="solid"/>
          </a:ln>
        </p:spPr>
      </p:sp>
      <p:sp>
        <p:nvSpPr>
          <p:cNvPr id="8" name="Shape 6"/>
          <p:cNvSpPr/>
          <p:nvPr/>
        </p:nvSpPr>
        <p:spPr>
          <a:xfrm>
            <a:off x="1097280" y="2514600"/>
            <a:ext cx="73152" cy="1828800"/>
          </a:xfrm>
          <a:prstGeom prst="rect">
            <a:avLst/>
          </a:prstGeom>
          <a:solidFill>
            <a:srgbClr val="1C7293"/>
          </a:solidFill>
          <a:ln w="12700">
            <a:solidFill>
              <a:srgbClr val="1C7293"/>
            </a:solidFill>
            <a:prstDash val="solid"/>
          </a:ln>
        </p:spPr>
      </p:sp>
      <p:sp>
        <p:nvSpPr>
          <p:cNvPr id="9" name="Shape 7"/>
          <p:cNvSpPr/>
          <p:nvPr/>
        </p:nvSpPr>
        <p:spPr>
          <a:xfrm>
            <a:off x="1243584" y="2743200"/>
            <a:ext cx="73152" cy="1371600"/>
          </a:xfrm>
          <a:prstGeom prst="rect">
            <a:avLst/>
          </a:prstGeom>
          <a:solidFill>
            <a:srgbClr val="F4A261"/>
          </a:solidFill>
          <a:ln w="12700">
            <a:solidFill>
              <a:srgbClr val="1C7293"/>
            </a:solidFill>
            <a:prstDash val="solid"/>
          </a:ln>
        </p:spPr>
      </p:sp>
      <p:sp>
        <p:nvSpPr>
          <p:cNvPr id="10" name="Shape 8"/>
          <p:cNvSpPr/>
          <p:nvPr/>
        </p:nvSpPr>
        <p:spPr>
          <a:xfrm>
            <a:off x="1389888" y="2331720"/>
            <a:ext cx="73152" cy="2194560"/>
          </a:xfrm>
          <a:prstGeom prst="rect">
            <a:avLst/>
          </a:prstGeom>
          <a:solidFill>
            <a:srgbClr val="1C7293"/>
          </a:solidFill>
          <a:ln w="12700">
            <a:solidFill>
              <a:srgbClr val="1C7293"/>
            </a:solidFill>
            <a:prstDash val="solid"/>
          </a:ln>
        </p:spPr>
      </p:sp>
      <p:sp>
        <p:nvSpPr>
          <p:cNvPr id="11" name="Shape 9"/>
          <p:cNvSpPr/>
          <p:nvPr/>
        </p:nvSpPr>
        <p:spPr>
          <a:xfrm>
            <a:off x="1536192" y="2606040"/>
            <a:ext cx="73152" cy="1645920"/>
          </a:xfrm>
          <a:prstGeom prst="rect">
            <a:avLst/>
          </a:prstGeom>
          <a:solidFill>
            <a:srgbClr val="1C7293"/>
          </a:solidFill>
          <a:ln w="12700">
            <a:solidFill>
              <a:srgbClr val="1C7293"/>
            </a:solidFill>
            <a:prstDash val="solid"/>
          </a:ln>
        </p:spPr>
      </p:sp>
      <p:sp>
        <p:nvSpPr>
          <p:cNvPr id="12" name="Shape 10"/>
          <p:cNvSpPr/>
          <p:nvPr/>
        </p:nvSpPr>
        <p:spPr>
          <a:xfrm>
            <a:off x="1682496" y="2423160"/>
            <a:ext cx="73152" cy="2011680"/>
          </a:xfrm>
          <a:prstGeom prst="rect">
            <a:avLst/>
          </a:prstGeom>
          <a:solidFill>
            <a:srgbClr val="F4A261"/>
          </a:solidFill>
          <a:ln w="12700">
            <a:solidFill>
              <a:srgbClr val="1C7293"/>
            </a:solidFill>
            <a:prstDash val="solid"/>
          </a:ln>
        </p:spPr>
      </p:sp>
      <p:sp>
        <p:nvSpPr>
          <p:cNvPr id="13" name="Shape 11"/>
          <p:cNvSpPr/>
          <p:nvPr/>
        </p:nvSpPr>
        <p:spPr>
          <a:xfrm>
            <a:off x="1828800" y="2788920"/>
            <a:ext cx="73152" cy="1280160"/>
          </a:xfrm>
          <a:prstGeom prst="rect">
            <a:avLst/>
          </a:prstGeom>
          <a:solidFill>
            <a:srgbClr val="1C7293"/>
          </a:solidFill>
          <a:ln w="12700">
            <a:solidFill>
              <a:srgbClr val="1C7293"/>
            </a:solidFill>
            <a:prstDash val="solid"/>
          </a:ln>
        </p:spPr>
      </p:sp>
      <p:sp>
        <p:nvSpPr>
          <p:cNvPr id="14" name="Shape 12"/>
          <p:cNvSpPr/>
          <p:nvPr/>
        </p:nvSpPr>
        <p:spPr>
          <a:xfrm>
            <a:off x="1975104" y="2560320"/>
            <a:ext cx="73152" cy="1737360"/>
          </a:xfrm>
          <a:prstGeom prst="rect">
            <a:avLst/>
          </a:prstGeom>
          <a:solidFill>
            <a:srgbClr val="1C7293"/>
          </a:solidFill>
          <a:ln w="12700">
            <a:solidFill>
              <a:srgbClr val="1C7293"/>
            </a:solidFill>
            <a:prstDash val="solid"/>
          </a:ln>
        </p:spPr>
      </p:sp>
      <p:sp>
        <p:nvSpPr>
          <p:cNvPr id="15" name="Shape 13"/>
          <p:cNvSpPr/>
          <p:nvPr/>
        </p:nvSpPr>
        <p:spPr>
          <a:xfrm>
            <a:off x="2121408" y="2834640"/>
            <a:ext cx="73152" cy="1188720"/>
          </a:xfrm>
          <a:prstGeom prst="rect">
            <a:avLst/>
          </a:prstGeom>
          <a:solidFill>
            <a:srgbClr val="F4A261"/>
          </a:solidFill>
          <a:ln w="12700">
            <a:solidFill>
              <a:srgbClr val="1C7293"/>
            </a:solidFill>
            <a:prstDash val="solid"/>
          </a:ln>
        </p:spPr>
      </p:sp>
      <p:sp>
        <p:nvSpPr>
          <p:cNvPr id="16" name="Shape 14"/>
          <p:cNvSpPr/>
          <p:nvPr/>
        </p:nvSpPr>
        <p:spPr>
          <a:xfrm>
            <a:off x="2267712" y="3017520"/>
            <a:ext cx="73152" cy="822960"/>
          </a:xfrm>
          <a:prstGeom prst="rect">
            <a:avLst/>
          </a:prstGeom>
          <a:solidFill>
            <a:srgbClr val="1C7293"/>
          </a:solidFill>
          <a:ln w="12700">
            <a:solidFill>
              <a:srgbClr val="1C7293"/>
            </a:solidFill>
            <a:prstDash val="solid"/>
          </a:ln>
        </p:spPr>
      </p:sp>
      <p:sp>
        <p:nvSpPr>
          <p:cNvPr id="17" name="Shape 15"/>
          <p:cNvSpPr/>
          <p:nvPr/>
        </p:nvSpPr>
        <p:spPr>
          <a:xfrm>
            <a:off x="2414016" y="2788920"/>
            <a:ext cx="73152" cy="1280160"/>
          </a:xfrm>
          <a:prstGeom prst="rect">
            <a:avLst/>
          </a:prstGeom>
          <a:solidFill>
            <a:srgbClr val="1C7293"/>
          </a:solidFill>
          <a:ln w="12700">
            <a:solidFill>
              <a:srgbClr val="1C7293"/>
            </a:solidFill>
            <a:prstDash val="solid"/>
          </a:ln>
        </p:spPr>
      </p:sp>
      <p:sp>
        <p:nvSpPr>
          <p:cNvPr id="18" name="Shape 16"/>
          <p:cNvSpPr/>
          <p:nvPr/>
        </p:nvSpPr>
        <p:spPr>
          <a:xfrm>
            <a:off x="2560320" y="2971800"/>
            <a:ext cx="73152" cy="914400"/>
          </a:xfrm>
          <a:prstGeom prst="rect">
            <a:avLst/>
          </a:prstGeom>
          <a:solidFill>
            <a:srgbClr val="F4A261"/>
          </a:solidFill>
          <a:ln w="12700">
            <a:solidFill>
              <a:srgbClr val="1C7293"/>
            </a:solidFill>
            <a:prstDash val="solid"/>
          </a:ln>
        </p:spPr>
      </p:sp>
      <p:sp>
        <p:nvSpPr>
          <p:cNvPr id="19" name="Shape 17"/>
          <p:cNvSpPr/>
          <p:nvPr/>
        </p:nvSpPr>
        <p:spPr>
          <a:xfrm>
            <a:off x="2706624" y="2651760"/>
            <a:ext cx="73152" cy="1554480"/>
          </a:xfrm>
          <a:prstGeom prst="rect">
            <a:avLst/>
          </a:prstGeom>
          <a:solidFill>
            <a:srgbClr val="1C7293"/>
          </a:solidFill>
          <a:ln w="12700">
            <a:solidFill>
              <a:srgbClr val="1C7293"/>
            </a:solidFill>
            <a:prstDash val="solid"/>
          </a:ln>
        </p:spPr>
      </p:sp>
      <p:sp>
        <p:nvSpPr>
          <p:cNvPr id="20" name="Shape 18"/>
          <p:cNvSpPr/>
          <p:nvPr/>
        </p:nvSpPr>
        <p:spPr>
          <a:xfrm>
            <a:off x="2852928" y="2880360"/>
            <a:ext cx="73152" cy="1097280"/>
          </a:xfrm>
          <a:prstGeom prst="rect">
            <a:avLst/>
          </a:prstGeom>
          <a:solidFill>
            <a:srgbClr val="1C7293"/>
          </a:solidFill>
          <a:ln w="12700">
            <a:solidFill>
              <a:srgbClr val="1C7293"/>
            </a:solidFill>
            <a:prstDash val="solid"/>
          </a:ln>
        </p:spPr>
      </p:sp>
      <p:sp>
        <p:nvSpPr>
          <p:cNvPr id="21" name="Shape 19"/>
          <p:cNvSpPr/>
          <p:nvPr/>
        </p:nvSpPr>
        <p:spPr>
          <a:xfrm>
            <a:off x="2999232" y="3063240"/>
            <a:ext cx="73152" cy="731520"/>
          </a:xfrm>
          <a:prstGeom prst="rect">
            <a:avLst/>
          </a:prstGeom>
          <a:solidFill>
            <a:srgbClr val="F4A261"/>
          </a:solidFill>
          <a:ln w="12700">
            <a:solidFill>
              <a:srgbClr val="1C7293"/>
            </a:solidFill>
            <a:prstDash val="solid"/>
          </a:ln>
        </p:spPr>
      </p:sp>
      <p:sp>
        <p:nvSpPr>
          <p:cNvPr id="22" name="Shape 20"/>
          <p:cNvSpPr/>
          <p:nvPr/>
        </p:nvSpPr>
        <p:spPr>
          <a:xfrm>
            <a:off x="3145536" y="2743200"/>
            <a:ext cx="73152" cy="1371600"/>
          </a:xfrm>
          <a:prstGeom prst="rect">
            <a:avLst/>
          </a:prstGeom>
          <a:solidFill>
            <a:srgbClr val="1C7293"/>
          </a:solidFill>
          <a:ln w="12700">
            <a:solidFill>
              <a:srgbClr val="1C7293"/>
            </a:solidFill>
            <a:prstDash val="solid"/>
          </a:ln>
        </p:spPr>
      </p:sp>
      <p:sp>
        <p:nvSpPr>
          <p:cNvPr id="23" name="Shape 21"/>
          <p:cNvSpPr/>
          <p:nvPr/>
        </p:nvSpPr>
        <p:spPr>
          <a:xfrm>
            <a:off x="3291840" y="2926080"/>
            <a:ext cx="73152" cy="1005840"/>
          </a:xfrm>
          <a:prstGeom prst="rect">
            <a:avLst/>
          </a:prstGeom>
          <a:solidFill>
            <a:srgbClr val="1C7293"/>
          </a:solidFill>
          <a:ln w="12700">
            <a:solidFill>
              <a:srgbClr val="1C7293"/>
            </a:solidFill>
            <a:prstDash val="solid"/>
          </a:ln>
        </p:spPr>
      </p:sp>
      <p:sp>
        <p:nvSpPr>
          <p:cNvPr id="24" name="Shape 22"/>
          <p:cNvSpPr/>
          <p:nvPr/>
        </p:nvSpPr>
        <p:spPr>
          <a:xfrm>
            <a:off x="3438144" y="2651760"/>
            <a:ext cx="73152" cy="1554480"/>
          </a:xfrm>
          <a:prstGeom prst="rect">
            <a:avLst/>
          </a:prstGeom>
          <a:solidFill>
            <a:srgbClr val="F4A261"/>
          </a:solidFill>
          <a:ln w="12700">
            <a:solidFill>
              <a:srgbClr val="1C7293"/>
            </a:solidFill>
            <a:prstDash val="solid"/>
          </a:ln>
        </p:spPr>
      </p:sp>
      <p:sp>
        <p:nvSpPr>
          <p:cNvPr id="25" name="Shape 23"/>
          <p:cNvSpPr/>
          <p:nvPr/>
        </p:nvSpPr>
        <p:spPr>
          <a:xfrm>
            <a:off x="3584448" y="2971800"/>
            <a:ext cx="73152" cy="914400"/>
          </a:xfrm>
          <a:prstGeom prst="rect">
            <a:avLst/>
          </a:prstGeom>
          <a:solidFill>
            <a:srgbClr val="1C7293"/>
          </a:solidFill>
          <a:ln w="12700">
            <a:solidFill>
              <a:srgbClr val="1C7293"/>
            </a:solidFill>
            <a:prstDash val="solid"/>
          </a:ln>
        </p:spPr>
      </p:sp>
      <p:sp>
        <p:nvSpPr>
          <p:cNvPr id="26" name="Shape 24"/>
          <p:cNvSpPr/>
          <p:nvPr/>
        </p:nvSpPr>
        <p:spPr>
          <a:xfrm>
            <a:off x="3730752" y="3108960"/>
            <a:ext cx="73152" cy="640080"/>
          </a:xfrm>
          <a:prstGeom prst="rect">
            <a:avLst/>
          </a:prstGeom>
          <a:solidFill>
            <a:srgbClr val="1C7293"/>
          </a:solidFill>
          <a:ln w="12700">
            <a:solidFill>
              <a:srgbClr val="1C7293"/>
            </a:solidFill>
            <a:prstDash val="solid"/>
          </a:ln>
        </p:spPr>
      </p:sp>
      <p:sp>
        <p:nvSpPr>
          <p:cNvPr id="27" name="Text 25"/>
          <p:cNvSpPr/>
          <p:nvPr/>
        </p:nvSpPr>
        <p:spPr>
          <a:xfrm>
            <a:off x="4572000" y="1463040"/>
            <a:ext cx="7040880" cy="365760"/>
          </a:xfrm>
          <a:prstGeom prst="rect">
            <a:avLst/>
          </a:prstGeom>
          <a:noFill/>
          <a:ln/>
        </p:spPr>
        <p:txBody>
          <a:bodyPr wrap="square" lIns="0" tIns="0" rIns="0" bIns="0" rtlCol="0" anchor="ctr"/>
          <a:lstStyle/>
          <a:p>
            <a:pPr indent="0" marL="0">
              <a:buNone/>
            </a:pPr>
            <a:r>
              <a:rPr lang="en-US" sz="1200" b="1" spc="600" kern="0" dirty="0">
                <a:solidFill>
                  <a:srgbClr val="F4A261"/>
                </a:solidFill>
                <a:latin typeface="Calibri" pitchFamily="34" charset="0"/>
                <a:ea typeface="Calibri" pitchFamily="34" charset="-122"/>
                <a:cs typeface="Calibri" pitchFamily="34" charset="-120"/>
              </a:rPr>
              <a:t>ARABIC NLP  ·  DEEP LEARNING  ·  SPEECH</a:t>
            </a:r>
            <a:endParaRPr lang="en-US" sz="1200" dirty="0"/>
          </a:p>
        </p:txBody>
      </p:sp>
      <p:sp>
        <p:nvSpPr>
          <p:cNvPr id="28" name="Text 26"/>
          <p:cNvSpPr/>
          <p:nvPr/>
        </p:nvSpPr>
        <p:spPr>
          <a:xfrm>
            <a:off x="4572000" y="1874520"/>
            <a:ext cx="7040880"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Arabic Long-Form ASR</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Improvement Pipeline</a:t>
            </a:r>
            <a:endParaRPr lang="en-US" sz="4000" dirty="0"/>
          </a:p>
        </p:txBody>
      </p:sp>
      <p:sp>
        <p:nvSpPr>
          <p:cNvPr id="29" name="Text 27"/>
          <p:cNvSpPr/>
          <p:nvPr/>
        </p:nvSpPr>
        <p:spPr>
          <a:xfrm>
            <a:off x="4572000" y="3611880"/>
            <a:ext cx="7040880" cy="9144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Improving Arabic transcription quality for long-form</a:t>
            </a:r>
            <a:endParaRPr lang="en-US" sz="1800" dirty="0"/>
          </a:p>
          <a:p>
            <a:pPr indent="0" marL="0">
              <a:buNone/>
            </a:pPr>
            <a:r>
              <a:rPr lang="en-US" sz="1800" i="1" dirty="0">
                <a:solidFill>
                  <a:srgbClr val="CADCFC"/>
                </a:solidFill>
                <a:latin typeface="Calibri" pitchFamily="34" charset="0"/>
                <a:ea typeface="Calibri" pitchFamily="34" charset="-122"/>
                <a:cs typeface="Calibri" pitchFamily="34" charset="-120"/>
              </a:rPr>
              <a:t>educational and media content</a:t>
            </a:r>
            <a:endParaRPr lang="en-US" sz="1800" dirty="0"/>
          </a:p>
        </p:txBody>
      </p:sp>
      <p:sp>
        <p:nvSpPr>
          <p:cNvPr id="30" name="Text 28"/>
          <p:cNvSpPr/>
          <p:nvPr/>
        </p:nvSpPr>
        <p:spPr>
          <a:xfrm>
            <a:off x="4572000" y="5120640"/>
            <a:ext cx="7040880" cy="365760"/>
          </a:xfrm>
          <a:prstGeom prst="rect">
            <a:avLst/>
          </a:prstGeom>
          <a:noFill/>
          <a:ln/>
        </p:spPr>
        <p:txBody>
          <a:bodyPr wrap="square" lIns="0" tIns="0" rIns="0" bIns="0" rtlCol="0" anchor="ctr"/>
          <a:lstStyle/>
          <a:p>
            <a:pPr indent="0" marL="0">
              <a:buNone/>
            </a:pPr>
            <a:r>
              <a:rPr lang="en-US" sz="1100" b="1" spc="400" kern="0" dirty="0">
                <a:solidFill>
                  <a:srgbClr val="94A3B8"/>
                </a:solidFill>
                <a:latin typeface="Calibri" pitchFamily="34" charset="0"/>
                <a:ea typeface="Calibri" pitchFamily="34" charset="-122"/>
                <a:cs typeface="Calibri" pitchFamily="34" charset="-120"/>
              </a:rPr>
              <a:t>Student   </a:t>
            </a:r>
            <a:pPr indent="0" marL="0">
              <a:buNone/>
            </a:pPr>
            <a:r>
              <a:rPr lang="en-US" sz="1600" b="1" dirty="0">
                <a:solidFill>
                  <a:srgbClr val="FFFFFF"/>
                </a:solidFill>
                <a:latin typeface="Calibri" pitchFamily="34" charset="0"/>
                <a:ea typeface="Calibri" pitchFamily="34" charset="-122"/>
                <a:cs typeface="Calibri" pitchFamily="34" charset="-120"/>
              </a:rPr>
              <a:t>Mohamed</a:t>
            </a:r>
            <a:endParaRPr lang="en-US" sz="1100" dirty="0"/>
          </a:p>
        </p:txBody>
      </p:sp>
      <p:sp>
        <p:nvSpPr>
          <p:cNvPr id="31" name="Text 29"/>
          <p:cNvSpPr/>
          <p:nvPr/>
        </p:nvSpPr>
        <p:spPr>
          <a:xfrm>
            <a:off x="4572000" y="5486400"/>
            <a:ext cx="7040880" cy="365760"/>
          </a:xfrm>
          <a:prstGeom prst="rect">
            <a:avLst/>
          </a:prstGeom>
          <a:noFill/>
          <a:ln/>
        </p:spPr>
        <p:txBody>
          <a:bodyPr wrap="square" lIns="0" tIns="0" rIns="0" bIns="0" rtlCol="0" anchor="ctr"/>
          <a:lstStyle/>
          <a:p>
            <a:pPr indent="0" marL="0">
              <a:buNone/>
            </a:pPr>
            <a:r>
              <a:rPr lang="en-US" sz="1100" b="1" spc="400" kern="0" dirty="0">
                <a:solidFill>
                  <a:srgbClr val="94A3B8"/>
                </a:solidFill>
                <a:latin typeface="Calibri" pitchFamily="34" charset="0"/>
                <a:ea typeface="Calibri" pitchFamily="34" charset="-122"/>
                <a:cs typeface="Calibri" pitchFamily="34" charset="-120"/>
              </a:rPr>
              <a:t>Domain   </a:t>
            </a:r>
            <a:pPr indent="0" marL="0">
              <a:buNone/>
            </a:pPr>
            <a:r>
              <a:rPr lang="en-US" sz="1400" dirty="0">
                <a:solidFill>
                  <a:srgbClr val="CADCFC"/>
                </a:solidFill>
                <a:latin typeface="Calibri" pitchFamily="34" charset="0"/>
                <a:ea typeface="Calibri" pitchFamily="34" charset="-122"/>
                <a:cs typeface="Calibri" pitchFamily="34" charset="-120"/>
              </a:rPr>
              <a:t>Digital Media · Education · Content Archiving</a:t>
            </a:r>
            <a:endParaRPr lang="en-US" sz="1100" dirty="0"/>
          </a:p>
        </p:txBody>
      </p:sp>
      <p:sp>
        <p:nvSpPr>
          <p:cNvPr id="32" name="Text 30"/>
          <p:cNvSpPr/>
          <p:nvPr/>
        </p:nvSpPr>
        <p:spPr>
          <a:xfrm>
            <a:off x="4572000" y="5852160"/>
            <a:ext cx="7040880" cy="365760"/>
          </a:xfrm>
          <a:prstGeom prst="rect">
            <a:avLst/>
          </a:prstGeom>
          <a:noFill/>
          <a:ln/>
        </p:spPr>
        <p:txBody>
          <a:bodyPr wrap="square" lIns="0" tIns="0" rIns="0" bIns="0" rtlCol="0" anchor="ctr"/>
          <a:lstStyle/>
          <a:p>
            <a:pPr indent="0" marL="0">
              <a:buNone/>
            </a:pPr>
            <a:r>
              <a:rPr lang="en-US" sz="1100" b="1" spc="400" kern="0" dirty="0">
                <a:solidFill>
                  <a:srgbClr val="94A3B8"/>
                </a:solidFill>
                <a:latin typeface="Calibri" pitchFamily="34" charset="0"/>
                <a:ea typeface="Calibri" pitchFamily="34" charset="-122"/>
                <a:cs typeface="Calibri" pitchFamily="34" charset="-120"/>
              </a:rPr>
              <a:t>Course   </a:t>
            </a:r>
            <a:pPr indent="0" marL="0">
              <a:buNone/>
            </a:pPr>
            <a:r>
              <a:rPr lang="en-US" sz="1400" dirty="0">
                <a:solidFill>
                  <a:srgbClr val="CADCFC"/>
                </a:solidFill>
                <a:latin typeface="Calibri" pitchFamily="34" charset="0"/>
                <a:ea typeface="Calibri" pitchFamily="34" charset="-122"/>
                <a:cs typeface="Calibri" pitchFamily="34" charset="-120"/>
              </a:rPr>
              <a:t>Advanced Deep Learning / NLP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Long-form Arabic audio breaks short-window ASR</a:t>
            </a:r>
            <a:endParaRPr lang="en-US" sz="3000" dirty="0"/>
          </a:p>
        </p:txBody>
      </p:sp>
      <p:sp>
        <p:nvSpPr>
          <p:cNvPr id="4" name="Shape 2"/>
          <p:cNvSpPr/>
          <p:nvPr/>
        </p:nvSpPr>
        <p:spPr>
          <a:xfrm>
            <a:off x="548640" y="1828800"/>
            <a:ext cx="5486400" cy="4297680"/>
          </a:xfrm>
          <a:prstGeom prst="rect">
            <a:avLst/>
          </a:prstGeom>
          <a:solidFill>
            <a:srgbClr val="F4F7FB"/>
          </a:solidFill>
          <a:ln w="12700">
            <a:solidFill>
              <a:srgbClr val="E2E8F0"/>
            </a:solidFill>
            <a:prstDash val="solid"/>
          </a:ln>
        </p:spPr>
      </p:sp>
      <p:sp>
        <p:nvSpPr>
          <p:cNvPr id="5" name="Text 3"/>
          <p:cNvSpPr/>
          <p:nvPr/>
        </p:nvSpPr>
        <p:spPr>
          <a:xfrm>
            <a:off x="777240" y="2011680"/>
            <a:ext cx="5029200" cy="27432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SHORT-FORM ASR</a:t>
            </a:r>
            <a:endParaRPr lang="en-US" sz="1100" dirty="0"/>
          </a:p>
        </p:txBody>
      </p:sp>
      <p:sp>
        <p:nvSpPr>
          <p:cNvPr id="6" name="Text 4"/>
          <p:cNvSpPr/>
          <p:nvPr/>
        </p:nvSpPr>
        <p:spPr>
          <a:xfrm>
            <a:off x="777240" y="2286000"/>
            <a:ext cx="5029200" cy="41148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Whisper on a 10–30s clip</a:t>
            </a:r>
            <a:endParaRPr lang="en-US" sz="2000" dirty="0"/>
          </a:p>
        </p:txBody>
      </p:sp>
      <p:sp>
        <p:nvSpPr>
          <p:cNvPr id="7" name="Shape 5"/>
          <p:cNvSpPr/>
          <p:nvPr/>
        </p:nvSpPr>
        <p:spPr>
          <a:xfrm>
            <a:off x="777240" y="3017520"/>
            <a:ext cx="64008" cy="457200"/>
          </a:xfrm>
          <a:prstGeom prst="rect">
            <a:avLst/>
          </a:prstGeom>
          <a:solidFill>
            <a:srgbClr val="1C7293"/>
          </a:solidFill>
          <a:ln w="12700">
            <a:solidFill>
              <a:srgbClr val="1C7293"/>
            </a:solidFill>
            <a:prstDash val="solid"/>
          </a:ln>
        </p:spPr>
      </p:sp>
      <p:sp>
        <p:nvSpPr>
          <p:cNvPr id="8" name="Shape 6"/>
          <p:cNvSpPr/>
          <p:nvPr/>
        </p:nvSpPr>
        <p:spPr>
          <a:xfrm>
            <a:off x="923544" y="2926080"/>
            <a:ext cx="64008" cy="640080"/>
          </a:xfrm>
          <a:prstGeom prst="rect">
            <a:avLst/>
          </a:prstGeom>
          <a:solidFill>
            <a:srgbClr val="1C7293"/>
          </a:solidFill>
          <a:ln w="12700">
            <a:solidFill>
              <a:srgbClr val="1C7293"/>
            </a:solidFill>
            <a:prstDash val="solid"/>
          </a:ln>
        </p:spPr>
      </p:sp>
      <p:sp>
        <p:nvSpPr>
          <p:cNvPr id="9" name="Shape 7"/>
          <p:cNvSpPr/>
          <p:nvPr/>
        </p:nvSpPr>
        <p:spPr>
          <a:xfrm>
            <a:off x="1069848" y="3063240"/>
            <a:ext cx="64008" cy="365760"/>
          </a:xfrm>
          <a:prstGeom prst="rect">
            <a:avLst/>
          </a:prstGeom>
          <a:solidFill>
            <a:srgbClr val="1C7293"/>
          </a:solidFill>
          <a:ln w="12700">
            <a:solidFill>
              <a:srgbClr val="1C7293"/>
            </a:solidFill>
            <a:prstDash val="solid"/>
          </a:ln>
        </p:spPr>
      </p:sp>
      <p:sp>
        <p:nvSpPr>
          <p:cNvPr id="10" name="Shape 8"/>
          <p:cNvSpPr/>
          <p:nvPr/>
        </p:nvSpPr>
        <p:spPr>
          <a:xfrm>
            <a:off x="1216152" y="2834640"/>
            <a:ext cx="64008" cy="822960"/>
          </a:xfrm>
          <a:prstGeom prst="rect">
            <a:avLst/>
          </a:prstGeom>
          <a:solidFill>
            <a:srgbClr val="1C7293"/>
          </a:solidFill>
          <a:ln w="12700">
            <a:solidFill>
              <a:srgbClr val="1C7293"/>
            </a:solidFill>
            <a:prstDash val="solid"/>
          </a:ln>
        </p:spPr>
      </p:sp>
      <p:sp>
        <p:nvSpPr>
          <p:cNvPr id="11" name="Shape 9"/>
          <p:cNvSpPr/>
          <p:nvPr/>
        </p:nvSpPr>
        <p:spPr>
          <a:xfrm>
            <a:off x="1362456" y="2971800"/>
            <a:ext cx="64008" cy="548640"/>
          </a:xfrm>
          <a:prstGeom prst="rect">
            <a:avLst/>
          </a:prstGeom>
          <a:solidFill>
            <a:srgbClr val="1C7293"/>
          </a:solidFill>
          <a:ln w="12700">
            <a:solidFill>
              <a:srgbClr val="1C7293"/>
            </a:solidFill>
            <a:prstDash val="solid"/>
          </a:ln>
        </p:spPr>
      </p:sp>
      <p:sp>
        <p:nvSpPr>
          <p:cNvPr id="12" name="Shape 10"/>
          <p:cNvSpPr/>
          <p:nvPr/>
        </p:nvSpPr>
        <p:spPr>
          <a:xfrm>
            <a:off x="1508760" y="2788920"/>
            <a:ext cx="64008" cy="914400"/>
          </a:xfrm>
          <a:prstGeom prst="rect">
            <a:avLst/>
          </a:prstGeom>
          <a:solidFill>
            <a:srgbClr val="1C7293"/>
          </a:solidFill>
          <a:ln w="12700">
            <a:solidFill>
              <a:srgbClr val="1C7293"/>
            </a:solidFill>
            <a:prstDash val="solid"/>
          </a:ln>
        </p:spPr>
      </p:sp>
      <p:sp>
        <p:nvSpPr>
          <p:cNvPr id="13" name="Shape 11"/>
          <p:cNvSpPr/>
          <p:nvPr/>
        </p:nvSpPr>
        <p:spPr>
          <a:xfrm>
            <a:off x="1655064" y="2926080"/>
            <a:ext cx="64008" cy="640080"/>
          </a:xfrm>
          <a:prstGeom prst="rect">
            <a:avLst/>
          </a:prstGeom>
          <a:solidFill>
            <a:srgbClr val="1C7293"/>
          </a:solidFill>
          <a:ln w="12700">
            <a:solidFill>
              <a:srgbClr val="1C7293"/>
            </a:solidFill>
            <a:prstDash val="solid"/>
          </a:ln>
        </p:spPr>
      </p:sp>
      <p:sp>
        <p:nvSpPr>
          <p:cNvPr id="14" name="Shape 12"/>
          <p:cNvSpPr/>
          <p:nvPr/>
        </p:nvSpPr>
        <p:spPr>
          <a:xfrm>
            <a:off x="1801368" y="3017520"/>
            <a:ext cx="64008" cy="457200"/>
          </a:xfrm>
          <a:prstGeom prst="rect">
            <a:avLst/>
          </a:prstGeom>
          <a:solidFill>
            <a:srgbClr val="1C7293"/>
          </a:solidFill>
          <a:ln w="12700">
            <a:solidFill>
              <a:srgbClr val="1C7293"/>
            </a:solidFill>
            <a:prstDash val="solid"/>
          </a:ln>
        </p:spPr>
      </p:sp>
      <p:sp>
        <p:nvSpPr>
          <p:cNvPr id="15" name="Shape 13"/>
          <p:cNvSpPr/>
          <p:nvPr/>
        </p:nvSpPr>
        <p:spPr>
          <a:xfrm>
            <a:off x="1947672" y="2880360"/>
            <a:ext cx="64008" cy="731520"/>
          </a:xfrm>
          <a:prstGeom prst="rect">
            <a:avLst/>
          </a:prstGeom>
          <a:solidFill>
            <a:srgbClr val="1C7293"/>
          </a:solidFill>
          <a:ln w="12700">
            <a:solidFill>
              <a:srgbClr val="1C7293"/>
            </a:solidFill>
            <a:prstDash val="solid"/>
          </a:ln>
        </p:spPr>
      </p:sp>
      <p:sp>
        <p:nvSpPr>
          <p:cNvPr id="16" name="Shape 14"/>
          <p:cNvSpPr/>
          <p:nvPr/>
        </p:nvSpPr>
        <p:spPr>
          <a:xfrm>
            <a:off x="2093976" y="2971800"/>
            <a:ext cx="64008" cy="548640"/>
          </a:xfrm>
          <a:prstGeom prst="rect">
            <a:avLst/>
          </a:prstGeom>
          <a:solidFill>
            <a:srgbClr val="1C7293"/>
          </a:solidFill>
          <a:ln w="12700">
            <a:solidFill>
              <a:srgbClr val="1C7293"/>
            </a:solidFill>
            <a:prstDash val="solid"/>
          </a:ln>
        </p:spPr>
      </p:sp>
      <p:sp>
        <p:nvSpPr>
          <p:cNvPr id="17" name="Shape 15"/>
          <p:cNvSpPr/>
          <p:nvPr/>
        </p:nvSpPr>
        <p:spPr>
          <a:xfrm>
            <a:off x="2240280" y="3063240"/>
            <a:ext cx="64008" cy="365760"/>
          </a:xfrm>
          <a:prstGeom prst="rect">
            <a:avLst/>
          </a:prstGeom>
          <a:solidFill>
            <a:srgbClr val="1C7293"/>
          </a:solidFill>
          <a:ln w="12700">
            <a:solidFill>
              <a:srgbClr val="1C7293"/>
            </a:solidFill>
            <a:prstDash val="solid"/>
          </a:ln>
        </p:spPr>
      </p:sp>
      <p:sp>
        <p:nvSpPr>
          <p:cNvPr id="18" name="Shape 16"/>
          <p:cNvSpPr/>
          <p:nvPr/>
        </p:nvSpPr>
        <p:spPr>
          <a:xfrm>
            <a:off x="2386584" y="2926080"/>
            <a:ext cx="64008" cy="640080"/>
          </a:xfrm>
          <a:prstGeom prst="rect">
            <a:avLst/>
          </a:prstGeom>
          <a:solidFill>
            <a:srgbClr val="1C7293"/>
          </a:solidFill>
          <a:ln w="12700">
            <a:solidFill>
              <a:srgbClr val="1C7293"/>
            </a:solidFill>
            <a:prstDash val="solid"/>
          </a:ln>
        </p:spPr>
      </p:sp>
      <p:sp>
        <p:nvSpPr>
          <p:cNvPr id="19" name="Text 17"/>
          <p:cNvSpPr/>
          <p:nvPr/>
        </p:nvSpPr>
        <p:spPr>
          <a:xfrm>
            <a:off x="777240" y="4206240"/>
            <a:ext cx="5029200" cy="3200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a:t>
            </a:r>
            <a:pPr indent="0" marL="0">
              <a:buNone/>
            </a:pPr>
            <a:r>
              <a:rPr lang="en-US" sz="1300" dirty="0">
                <a:solidFill>
                  <a:srgbClr val="0F172A"/>
                </a:solidFill>
                <a:latin typeface="Calibri" pitchFamily="34" charset="0"/>
                <a:ea typeface="Calibri" pitchFamily="34" charset="-122"/>
                <a:cs typeface="Calibri" pitchFamily="34" charset="-120"/>
              </a:rPr>
              <a:t>Single context window</a:t>
            </a:r>
            <a:endParaRPr lang="en-US" sz="1300" dirty="0"/>
          </a:p>
        </p:txBody>
      </p:sp>
      <p:sp>
        <p:nvSpPr>
          <p:cNvPr id="20" name="Text 18"/>
          <p:cNvSpPr/>
          <p:nvPr/>
        </p:nvSpPr>
        <p:spPr>
          <a:xfrm>
            <a:off x="777240" y="4572000"/>
            <a:ext cx="5029200" cy="3200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a:t>
            </a:r>
            <a:pPr indent="0" marL="0">
              <a:buNone/>
            </a:pPr>
            <a:r>
              <a:rPr lang="en-US" sz="1300" dirty="0">
                <a:solidFill>
                  <a:srgbClr val="0F172A"/>
                </a:solidFill>
                <a:latin typeface="Calibri" pitchFamily="34" charset="0"/>
                <a:ea typeface="Calibri" pitchFamily="34" charset="-122"/>
                <a:cs typeface="Calibri" pitchFamily="34" charset="-120"/>
              </a:rPr>
              <a:t>No reconstruction needed</a:t>
            </a:r>
            <a:endParaRPr lang="en-US" sz="1300" dirty="0"/>
          </a:p>
        </p:txBody>
      </p:sp>
      <p:sp>
        <p:nvSpPr>
          <p:cNvPr id="21" name="Text 19"/>
          <p:cNvSpPr/>
          <p:nvPr/>
        </p:nvSpPr>
        <p:spPr>
          <a:xfrm>
            <a:off x="777240" y="4937760"/>
            <a:ext cx="5029200" cy="3200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a:t>
            </a:r>
            <a:pPr indent="0" marL="0">
              <a:buNone/>
            </a:pPr>
            <a:r>
              <a:rPr lang="en-US" sz="1300" dirty="0">
                <a:solidFill>
                  <a:srgbClr val="0F172A"/>
                </a:solidFill>
                <a:latin typeface="Calibri" pitchFamily="34" charset="0"/>
                <a:ea typeface="Calibri" pitchFamily="34" charset="-122"/>
                <a:cs typeface="Calibri" pitchFamily="34" charset="-120"/>
              </a:rPr>
              <a:t>Generally strong WER</a:t>
            </a:r>
            <a:endParaRPr lang="en-US" sz="1300" dirty="0"/>
          </a:p>
        </p:txBody>
      </p:sp>
      <p:sp>
        <p:nvSpPr>
          <p:cNvPr id="22" name="Text 20"/>
          <p:cNvSpPr/>
          <p:nvPr/>
        </p:nvSpPr>
        <p:spPr>
          <a:xfrm>
            <a:off x="777240" y="5440680"/>
            <a:ext cx="502920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Models are usually optimized around short windows (~30s).</a:t>
            </a:r>
            <a:endParaRPr lang="en-US" sz="1100" dirty="0"/>
          </a:p>
        </p:txBody>
      </p:sp>
      <p:sp>
        <p:nvSpPr>
          <p:cNvPr id="23" name="Shape 21"/>
          <p:cNvSpPr/>
          <p:nvPr/>
        </p:nvSpPr>
        <p:spPr>
          <a:xfrm>
            <a:off x="6245352" y="1828800"/>
            <a:ext cx="5394960" cy="4297680"/>
          </a:xfrm>
          <a:prstGeom prst="rect">
            <a:avLst/>
          </a:prstGeom>
          <a:solidFill>
            <a:srgbClr val="FFF7ED"/>
          </a:solidFill>
          <a:ln w="12700">
            <a:solidFill>
              <a:srgbClr val="F4A261"/>
            </a:solidFill>
            <a:prstDash val="solid"/>
          </a:ln>
        </p:spPr>
      </p:sp>
      <p:sp>
        <p:nvSpPr>
          <p:cNvPr id="24" name="Text 22"/>
          <p:cNvSpPr/>
          <p:nvPr/>
        </p:nvSpPr>
        <p:spPr>
          <a:xfrm>
            <a:off x="6473952" y="2011680"/>
            <a:ext cx="4937760" cy="274320"/>
          </a:xfrm>
          <a:prstGeom prst="rect">
            <a:avLst/>
          </a:prstGeom>
          <a:noFill/>
          <a:ln/>
        </p:spPr>
        <p:txBody>
          <a:bodyPr wrap="square" lIns="0" tIns="0" rIns="0" bIns="0" rtlCol="0" anchor="ctr"/>
          <a:lstStyle/>
          <a:p>
            <a:pPr indent="0" marL="0">
              <a:buNone/>
            </a:pPr>
            <a:r>
              <a:rPr lang="en-US" sz="1100" b="1" spc="400" kern="0" dirty="0">
                <a:solidFill>
                  <a:srgbClr val="F4A261"/>
                </a:solidFill>
                <a:latin typeface="Calibri" pitchFamily="34" charset="0"/>
                <a:ea typeface="Calibri" pitchFamily="34" charset="-122"/>
                <a:cs typeface="Calibri" pitchFamily="34" charset="-120"/>
              </a:rPr>
              <a:t>LONG-FORM ARABIC ASR</a:t>
            </a:r>
            <a:endParaRPr lang="en-US" sz="1100" dirty="0"/>
          </a:p>
        </p:txBody>
      </p:sp>
      <p:sp>
        <p:nvSpPr>
          <p:cNvPr id="25" name="Text 23"/>
          <p:cNvSpPr/>
          <p:nvPr/>
        </p:nvSpPr>
        <p:spPr>
          <a:xfrm>
            <a:off x="6473952" y="2286000"/>
            <a:ext cx="4937760" cy="41148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Lectures, khutbahs, podcasts (30 min+)</a:t>
            </a:r>
            <a:endParaRPr lang="en-US" sz="2000" dirty="0"/>
          </a:p>
        </p:txBody>
      </p:sp>
      <p:sp>
        <p:nvSpPr>
          <p:cNvPr id="26" name="Shape 24"/>
          <p:cNvSpPr/>
          <p:nvPr/>
        </p:nvSpPr>
        <p:spPr>
          <a:xfrm>
            <a:off x="6473952" y="3017520"/>
            <a:ext cx="64008" cy="457200"/>
          </a:xfrm>
          <a:prstGeom prst="rect">
            <a:avLst/>
          </a:prstGeom>
          <a:solidFill>
            <a:srgbClr val="F4A261"/>
          </a:solidFill>
          <a:ln w="12700">
            <a:solidFill>
              <a:srgbClr val="F4A261"/>
            </a:solidFill>
            <a:prstDash val="solid"/>
          </a:ln>
        </p:spPr>
      </p:sp>
      <p:sp>
        <p:nvSpPr>
          <p:cNvPr id="27" name="Shape 25"/>
          <p:cNvSpPr/>
          <p:nvPr/>
        </p:nvSpPr>
        <p:spPr>
          <a:xfrm>
            <a:off x="6620256" y="2926080"/>
            <a:ext cx="64008" cy="640080"/>
          </a:xfrm>
          <a:prstGeom prst="rect">
            <a:avLst/>
          </a:prstGeom>
          <a:solidFill>
            <a:srgbClr val="F4A261"/>
          </a:solidFill>
          <a:ln w="12700">
            <a:solidFill>
              <a:srgbClr val="F4A261"/>
            </a:solidFill>
            <a:prstDash val="solid"/>
          </a:ln>
        </p:spPr>
      </p:sp>
      <p:sp>
        <p:nvSpPr>
          <p:cNvPr id="28" name="Shape 26"/>
          <p:cNvSpPr/>
          <p:nvPr/>
        </p:nvSpPr>
        <p:spPr>
          <a:xfrm>
            <a:off x="6766560" y="3063240"/>
            <a:ext cx="64008" cy="365760"/>
          </a:xfrm>
          <a:prstGeom prst="rect">
            <a:avLst/>
          </a:prstGeom>
          <a:solidFill>
            <a:srgbClr val="F4A261"/>
          </a:solidFill>
          <a:ln w="12700">
            <a:solidFill>
              <a:srgbClr val="F4A261"/>
            </a:solidFill>
            <a:prstDash val="solid"/>
          </a:ln>
        </p:spPr>
      </p:sp>
      <p:sp>
        <p:nvSpPr>
          <p:cNvPr id="29" name="Shape 27"/>
          <p:cNvSpPr/>
          <p:nvPr/>
        </p:nvSpPr>
        <p:spPr>
          <a:xfrm>
            <a:off x="6912864" y="2834640"/>
            <a:ext cx="64008" cy="822960"/>
          </a:xfrm>
          <a:prstGeom prst="rect">
            <a:avLst/>
          </a:prstGeom>
          <a:solidFill>
            <a:srgbClr val="F4A261"/>
          </a:solidFill>
          <a:ln w="12700">
            <a:solidFill>
              <a:srgbClr val="F4A261"/>
            </a:solidFill>
            <a:prstDash val="solid"/>
          </a:ln>
        </p:spPr>
      </p:sp>
      <p:sp>
        <p:nvSpPr>
          <p:cNvPr id="30" name="Shape 28"/>
          <p:cNvSpPr/>
          <p:nvPr/>
        </p:nvSpPr>
        <p:spPr>
          <a:xfrm>
            <a:off x="7059168" y="2971800"/>
            <a:ext cx="64008" cy="548640"/>
          </a:xfrm>
          <a:prstGeom prst="rect">
            <a:avLst/>
          </a:prstGeom>
          <a:solidFill>
            <a:srgbClr val="F4A261"/>
          </a:solidFill>
          <a:ln w="12700">
            <a:solidFill>
              <a:srgbClr val="F4A261"/>
            </a:solidFill>
            <a:prstDash val="solid"/>
          </a:ln>
        </p:spPr>
      </p:sp>
      <p:sp>
        <p:nvSpPr>
          <p:cNvPr id="31" name="Shape 29"/>
          <p:cNvSpPr/>
          <p:nvPr/>
        </p:nvSpPr>
        <p:spPr>
          <a:xfrm>
            <a:off x="7205472" y="2788920"/>
            <a:ext cx="64008" cy="914400"/>
          </a:xfrm>
          <a:prstGeom prst="rect">
            <a:avLst/>
          </a:prstGeom>
          <a:solidFill>
            <a:srgbClr val="F4A261"/>
          </a:solidFill>
          <a:ln w="12700">
            <a:solidFill>
              <a:srgbClr val="F4A261"/>
            </a:solidFill>
            <a:prstDash val="solid"/>
          </a:ln>
        </p:spPr>
      </p:sp>
      <p:sp>
        <p:nvSpPr>
          <p:cNvPr id="32" name="Shape 30"/>
          <p:cNvSpPr/>
          <p:nvPr/>
        </p:nvSpPr>
        <p:spPr>
          <a:xfrm>
            <a:off x="7351776" y="2926080"/>
            <a:ext cx="64008" cy="640080"/>
          </a:xfrm>
          <a:prstGeom prst="rect">
            <a:avLst/>
          </a:prstGeom>
          <a:solidFill>
            <a:srgbClr val="F4A261"/>
          </a:solidFill>
          <a:ln w="12700">
            <a:solidFill>
              <a:srgbClr val="F4A261"/>
            </a:solidFill>
            <a:prstDash val="solid"/>
          </a:ln>
        </p:spPr>
      </p:sp>
      <p:sp>
        <p:nvSpPr>
          <p:cNvPr id="33" name="Shape 31"/>
          <p:cNvSpPr/>
          <p:nvPr/>
        </p:nvSpPr>
        <p:spPr>
          <a:xfrm>
            <a:off x="7498080" y="3017520"/>
            <a:ext cx="64008" cy="457200"/>
          </a:xfrm>
          <a:prstGeom prst="rect">
            <a:avLst/>
          </a:prstGeom>
          <a:solidFill>
            <a:srgbClr val="F4A261"/>
          </a:solidFill>
          <a:ln w="12700">
            <a:solidFill>
              <a:srgbClr val="F4A261"/>
            </a:solidFill>
            <a:prstDash val="solid"/>
          </a:ln>
        </p:spPr>
      </p:sp>
      <p:sp>
        <p:nvSpPr>
          <p:cNvPr id="34" name="Shape 32"/>
          <p:cNvSpPr/>
          <p:nvPr/>
        </p:nvSpPr>
        <p:spPr>
          <a:xfrm>
            <a:off x="7644384" y="2880360"/>
            <a:ext cx="64008" cy="731520"/>
          </a:xfrm>
          <a:prstGeom prst="rect">
            <a:avLst/>
          </a:prstGeom>
          <a:solidFill>
            <a:srgbClr val="F4A261"/>
          </a:solidFill>
          <a:ln w="12700">
            <a:solidFill>
              <a:srgbClr val="F4A261"/>
            </a:solidFill>
            <a:prstDash val="solid"/>
          </a:ln>
        </p:spPr>
      </p:sp>
      <p:sp>
        <p:nvSpPr>
          <p:cNvPr id="35" name="Shape 33"/>
          <p:cNvSpPr/>
          <p:nvPr/>
        </p:nvSpPr>
        <p:spPr>
          <a:xfrm>
            <a:off x="7790688" y="2971800"/>
            <a:ext cx="64008" cy="548640"/>
          </a:xfrm>
          <a:prstGeom prst="rect">
            <a:avLst/>
          </a:prstGeom>
          <a:solidFill>
            <a:srgbClr val="F4A261"/>
          </a:solidFill>
          <a:ln w="12700">
            <a:solidFill>
              <a:srgbClr val="F4A261"/>
            </a:solidFill>
            <a:prstDash val="solid"/>
          </a:ln>
        </p:spPr>
      </p:sp>
      <p:sp>
        <p:nvSpPr>
          <p:cNvPr id="36" name="Shape 34"/>
          <p:cNvSpPr/>
          <p:nvPr/>
        </p:nvSpPr>
        <p:spPr>
          <a:xfrm>
            <a:off x="7936992" y="3063240"/>
            <a:ext cx="64008" cy="365760"/>
          </a:xfrm>
          <a:prstGeom prst="rect">
            <a:avLst/>
          </a:prstGeom>
          <a:solidFill>
            <a:srgbClr val="F4A261"/>
          </a:solidFill>
          <a:ln w="12700">
            <a:solidFill>
              <a:srgbClr val="F4A261"/>
            </a:solidFill>
            <a:prstDash val="solid"/>
          </a:ln>
        </p:spPr>
      </p:sp>
      <p:sp>
        <p:nvSpPr>
          <p:cNvPr id="37" name="Shape 35"/>
          <p:cNvSpPr/>
          <p:nvPr/>
        </p:nvSpPr>
        <p:spPr>
          <a:xfrm>
            <a:off x="8083296" y="2926080"/>
            <a:ext cx="64008" cy="640080"/>
          </a:xfrm>
          <a:prstGeom prst="rect">
            <a:avLst/>
          </a:prstGeom>
          <a:solidFill>
            <a:srgbClr val="F4A261"/>
          </a:solidFill>
          <a:ln w="12700">
            <a:solidFill>
              <a:srgbClr val="F4A261"/>
            </a:solidFill>
            <a:prstDash val="solid"/>
          </a:ln>
        </p:spPr>
      </p:sp>
      <p:sp>
        <p:nvSpPr>
          <p:cNvPr id="38" name="Shape 36"/>
          <p:cNvSpPr/>
          <p:nvPr/>
        </p:nvSpPr>
        <p:spPr>
          <a:xfrm>
            <a:off x="8229600" y="3017520"/>
            <a:ext cx="64008" cy="457200"/>
          </a:xfrm>
          <a:prstGeom prst="rect">
            <a:avLst/>
          </a:prstGeom>
          <a:solidFill>
            <a:srgbClr val="F4A261"/>
          </a:solidFill>
          <a:ln w="12700">
            <a:solidFill>
              <a:srgbClr val="F4A261"/>
            </a:solidFill>
            <a:prstDash val="solid"/>
          </a:ln>
        </p:spPr>
      </p:sp>
      <p:sp>
        <p:nvSpPr>
          <p:cNvPr id="39" name="Shape 37"/>
          <p:cNvSpPr/>
          <p:nvPr/>
        </p:nvSpPr>
        <p:spPr>
          <a:xfrm>
            <a:off x="8375904" y="2880360"/>
            <a:ext cx="64008" cy="731520"/>
          </a:xfrm>
          <a:prstGeom prst="rect">
            <a:avLst/>
          </a:prstGeom>
          <a:solidFill>
            <a:srgbClr val="F4A261"/>
          </a:solidFill>
          <a:ln w="12700">
            <a:solidFill>
              <a:srgbClr val="F4A261"/>
            </a:solidFill>
            <a:prstDash val="solid"/>
          </a:ln>
        </p:spPr>
      </p:sp>
      <p:sp>
        <p:nvSpPr>
          <p:cNvPr id="40" name="Shape 38"/>
          <p:cNvSpPr/>
          <p:nvPr/>
        </p:nvSpPr>
        <p:spPr>
          <a:xfrm>
            <a:off x="8522208" y="2971800"/>
            <a:ext cx="64008" cy="548640"/>
          </a:xfrm>
          <a:prstGeom prst="rect">
            <a:avLst/>
          </a:prstGeom>
          <a:solidFill>
            <a:srgbClr val="F4A261"/>
          </a:solidFill>
          <a:ln w="12700">
            <a:solidFill>
              <a:srgbClr val="F4A261"/>
            </a:solidFill>
            <a:prstDash val="solid"/>
          </a:ln>
        </p:spPr>
      </p:sp>
      <p:sp>
        <p:nvSpPr>
          <p:cNvPr id="41" name="Shape 39"/>
          <p:cNvSpPr/>
          <p:nvPr/>
        </p:nvSpPr>
        <p:spPr>
          <a:xfrm>
            <a:off x="8668512" y="2788920"/>
            <a:ext cx="64008" cy="914400"/>
          </a:xfrm>
          <a:prstGeom prst="rect">
            <a:avLst/>
          </a:prstGeom>
          <a:solidFill>
            <a:srgbClr val="F4A261"/>
          </a:solidFill>
          <a:ln w="12700">
            <a:solidFill>
              <a:srgbClr val="F4A261"/>
            </a:solidFill>
            <a:prstDash val="solid"/>
          </a:ln>
        </p:spPr>
      </p:sp>
      <p:sp>
        <p:nvSpPr>
          <p:cNvPr id="42" name="Shape 40"/>
          <p:cNvSpPr/>
          <p:nvPr/>
        </p:nvSpPr>
        <p:spPr>
          <a:xfrm>
            <a:off x="8814816" y="2926080"/>
            <a:ext cx="64008" cy="640080"/>
          </a:xfrm>
          <a:prstGeom prst="rect">
            <a:avLst/>
          </a:prstGeom>
          <a:solidFill>
            <a:srgbClr val="F4A261"/>
          </a:solidFill>
          <a:ln w="12700">
            <a:solidFill>
              <a:srgbClr val="F4A261"/>
            </a:solidFill>
            <a:prstDash val="solid"/>
          </a:ln>
        </p:spPr>
      </p:sp>
      <p:sp>
        <p:nvSpPr>
          <p:cNvPr id="43" name="Shape 41"/>
          <p:cNvSpPr/>
          <p:nvPr/>
        </p:nvSpPr>
        <p:spPr>
          <a:xfrm>
            <a:off x="8961120" y="3063240"/>
            <a:ext cx="64008" cy="365760"/>
          </a:xfrm>
          <a:prstGeom prst="rect">
            <a:avLst/>
          </a:prstGeom>
          <a:solidFill>
            <a:srgbClr val="F4A261"/>
          </a:solidFill>
          <a:ln w="12700">
            <a:solidFill>
              <a:srgbClr val="F4A261"/>
            </a:solidFill>
            <a:prstDash val="solid"/>
          </a:ln>
        </p:spPr>
      </p:sp>
      <p:sp>
        <p:nvSpPr>
          <p:cNvPr id="44" name="Shape 42"/>
          <p:cNvSpPr/>
          <p:nvPr/>
        </p:nvSpPr>
        <p:spPr>
          <a:xfrm>
            <a:off x="9107424" y="2834640"/>
            <a:ext cx="64008" cy="822960"/>
          </a:xfrm>
          <a:prstGeom prst="rect">
            <a:avLst/>
          </a:prstGeom>
          <a:solidFill>
            <a:srgbClr val="F4A261"/>
          </a:solidFill>
          <a:ln w="12700">
            <a:solidFill>
              <a:srgbClr val="F4A261"/>
            </a:solidFill>
            <a:prstDash val="solid"/>
          </a:ln>
        </p:spPr>
      </p:sp>
      <p:sp>
        <p:nvSpPr>
          <p:cNvPr id="45" name="Shape 43"/>
          <p:cNvSpPr/>
          <p:nvPr/>
        </p:nvSpPr>
        <p:spPr>
          <a:xfrm>
            <a:off x="9253728" y="3017520"/>
            <a:ext cx="64008" cy="457200"/>
          </a:xfrm>
          <a:prstGeom prst="rect">
            <a:avLst/>
          </a:prstGeom>
          <a:solidFill>
            <a:srgbClr val="F4A261"/>
          </a:solidFill>
          <a:ln w="12700">
            <a:solidFill>
              <a:srgbClr val="F4A261"/>
            </a:solidFill>
            <a:prstDash val="solid"/>
          </a:ln>
        </p:spPr>
      </p:sp>
      <p:sp>
        <p:nvSpPr>
          <p:cNvPr id="46" name="Shape 44"/>
          <p:cNvSpPr/>
          <p:nvPr/>
        </p:nvSpPr>
        <p:spPr>
          <a:xfrm>
            <a:off x="9400032" y="2926080"/>
            <a:ext cx="64008" cy="640080"/>
          </a:xfrm>
          <a:prstGeom prst="rect">
            <a:avLst/>
          </a:prstGeom>
          <a:solidFill>
            <a:srgbClr val="F4A261"/>
          </a:solidFill>
          <a:ln w="12700">
            <a:solidFill>
              <a:srgbClr val="F4A261"/>
            </a:solidFill>
            <a:prstDash val="solid"/>
          </a:ln>
        </p:spPr>
      </p:sp>
      <p:sp>
        <p:nvSpPr>
          <p:cNvPr id="47" name="Shape 45"/>
          <p:cNvSpPr/>
          <p:nvPr/>
        </p:nvSpPr>
        <p:spPr>
          <a:xfrm>
            <a:off x="9546336" y="2971800"/>
            <a:ext cx="64008" cy="548640"/>
          </a:xfrm>
          <a:prstGeom prst="rect">
            <a:avLst/>
          </a:prstGeom>
          <a:solidFill>
            <a:srgbClr val="F4A261"/>
          </a:solidFill>
          <a:ln w="12700">
            <a:solidFill>
              <a:srgbClr val="F4A261"/>
            </a:solidFill>
            <a:prstDash val="solid"/>
          </a:ln>
        </p:spPr>
      </p:sp>
      <p:sp>
        <p:nvSpPr>
          <p:cNvPr id="48" name="Shape 46"/>
          <p:cNvSpPr/>
          <p:nvPr/>
        </p:nvSpPr>
        <p:spPr>
          <a:xfrm>
            <a:off x="9692640" y="3063240"/>
            <a:ext cx="64008" cy="365760"/>
          </a:xfrm>
          <a:prstGeom prst="rect">
            <a:avLst/>
          </a:prstGeom>
          <a:solidFill>
            <a:srgbClr val="F4A261"/>
          </a:solidFill>
          <a:ln w="12700">
            <a:solidFill>
              <a:srgbClr val="F4A261"/>
            </a:solidFill>
            <a:prstDash val="solid"/>
          </a:ln>
        </p:spPr>
      </p:sp>
      <p:sp>
        <p:nvSpPr>
          <p:cNvPr id="49" name="Shape 47"/>
          <p:cNvSpPr/>
          <p:nvPr/>
        </p:nvSpPr>
        <p:spPr>
          <a:xfrm>
            <a:off x="9838944" y="2880360"/>
            <a:ext cx="64008" cy="731520"/>
          </a:xfrm>
          <a:prstGeom prst="rect">
            <a:avLst/>
          </a:prstGeom>
          <a:solidFill>
            <a:srgbClr val="F4A261"/>
          </a:solidFill>
          <a:ln w="12700">
            <a:solidFill>
              <a:srgbClr val="F4A261"/>
            </a:solidFill>
            <a:prstDash val="solid"/>
          </a:ln>
        </p:spPr>
      </p:sp>
      <p:sp>
        <p:nvSpPr>
          <p:cNvPr id="50" name="Shape 48"/>
          <p:cNvSpPr/>
          <p:nvPr/>
        </p:nvSpPr>
        <p:spPr>
          <a:xfrm>
            <a:off x="9985248" y="3017520"/>
            <a:ext cx="64008" cy="457200"/>
          </a:xfrm>
          <a:prstGeom prst="rect">
            <a:avLst/>
          </a:prstGeom>
          <a:solidFill>
            <a:srgbClr val="F4A261"/>
          </a:solidFill>
          <a:ln w="12700">
            <a:solidFill>
              <a:srgbClr val="F4A261"/>
            </a:solidFill>
            <a:prstDash val="solid"/>
          </a:ln>
        </p:spPr>
      </p:sp>
      <p:sp>
        <p:nvSpPr>
          <p:cNvPr id="51" name="Shape 49"/>
          <p:cNvSpPr/>
          <p:nvPr/>
        </p:nvSpPr>
        <p:spPr>
          <a:xfrm>
            <a:off x="10131552" y="2926080"/>
            <a:ext cx="64008" cy="640080"/>
          </a:xfrm>
          <a:prstGeom prst="rect">
            <a:avLst/>
          </a:prstGeom>
          <a:solidFill>
            <a:srgbClr val="F4A261"/>
          </a:solidFill>
          <a:ln w="12700">
            <a:solidFill>
              <a:srgbClr val="F4A261"/>
            </a:solidFill>
            <a:prstDash val="solid"/>
          </a:ln>
        </p:spPr>
      </p:sp>
      <p:sp>
        <p:nvSpPr>
          <p:cNvPr id="52" name="Shape 50"/>
          <p:cNvSpPr/>
          <p:nvPr/>
        </p:nvSpPr>
        <p:spPr>
          <a:xfrm>
            <a:off x="10277856" y="2834640"/>
            <a:ext cx="64008" cy="822960"/>
          </a:xfrm>
          <a:prstGeom prst="rect">
            <a:avLst/>
          </a:prstGeom>
          <a:solidFill>
            <a:srgbClr val="F4A261"/>
          </a:solidFill>
          <a:ln w="12700">
            <a:solidFill>
              <a:srgbClr val="F4A261"/>
            </a:solidFill>
            <a:prstDash val="solid"/>
          </a:ln>
        </p:spPr>
      </p:sp>
      <p:sp>
        <p:nvSpPr>
          <p:cNvPr id="53" name="Shape 51"/>
          <p:cNvSpPr/>
          <p:nvPr/>
        </p:nvSpPr>
        <p:spPr>
          <a:xfrm>
            <a:off x="10424160" y="3017520"/>
            <a:ext cx="64008" cy="457200"/>
          </a:xfrm>
          <a:prstGeom prst="rect">
            <a:avLst/>
          </a:prstGeom>
          <a:solidFill>
            <a:srgbClr val="F4A261"/>
          </a:solidFill>
          <a:ln w="12700">
            <a:solidFill>
              <a:srgbClr val="F4A261"/>
            </a:solidFill>
            <a:prstDash val="solid"/>
          </a:ln>
        </p:spPr>
      </p:sp>
      <p:sp>
        <p:nvSpPr>
          <p:cNvPr id="54" name="Shape 52"/>
          <p:cNvSpPr/>
          <p:nvPr/>
        </p:nvSpPr>
        <p:spPr>
          <a:xfrm>
            <a:off x="10570464" y="2971800"/>
            <a:ext cx="64008" cy="548640"/>
          </a:xfrm>
          <a:prstGeom prst="rect">
            <a:avLst/>
          </a:prstGeom>
          <a:solidFill>
            <a:srgbClr val="F4A261"/>
          </a:solidFill>
          <a:ln w="12700">
            <a:solidFill>
              <a:srgbClr val="F4A261"/>
            </a:solidFill>
            <a:prstDash val="solid"/>
          </a:ln>
        </p:spPr>
      </p:sp>
      <p:sp>
        <p:nvSpPr>
          <p:cNvPr id="55" name="Shape 53"/>
          <p:cNvSpPr/>
          <p:nvPr/>
        </p:nvSpPr>
        <p:spPr>
          <a:xfrm>
            <a:off x="10716768" y="2880360"/>
            <a:ext cx="64008" cy="731520"/>
          </a:xfrm>
          <a:prstGeom prst="rect">
            <a:avLst/>
          </a:prstGeom>
          <a:solidFill>
            <a:srgbClr val="F4A261"/>
          </a:solidFill>
          <a:ln w="12700">
            <a:solidFill>
              <a:srgbClr val="F4A261"/>
            </a:solidFill>
            <a:prstDash val="solid"/>
          </a:ln>
        </p:spPr>
      </p:sp>
      <p:sp>
        <p:nvSpPr>
          <p:cNvPr id="56" name="Shape 54"/>
          <p:cNvSpPr/>
          <p:nvPr/>
        </p:nvSpPr>
        <p:spPr>
          <a:xfrm>
            <a:off x="10863072" y="3063240"/>
            <a:ext cx="64008" cy="365760"/>
          </a:xfrm>
          <a:prstGeom prst="rect">
            <a:avLst/>
          </a:prstGeom>
          <a:solidFill>
            <a:srgbClr val="F4A261"/>
          </a:solidFill>
          <a:ln w="12700">
            <a:solidFill>
              <a:srgbClr val="F4A261"/>
            </a:solidFill>
            <a:prstDash val="solid"/>
          </a:ln>
        </p:spPr>
      </p:sp>
      <p:sp>
        <p:nvSpPr>
          <p:cNvPr id="57" name="Shape 55"/>
          <p:cNvSpPr/>
          <p:nvPr/>
        </p:nvSpPr>
        <p:spPr>
          <a:xfrm>
            <a:off x="11009376" y="2926080"/>
            <a:ext cx="64008" cy="640080"/>
          </a:xfrm>
          <a:prstGeom prst="rect">
            <a:avLst/>
          </a:prstGeom>
          <a:solidFill>
            <a:srgbClr val="F4A261"/>
          </a:solidFill>
          <a:ln w="12700">
            <a:solidFill>
              <a:srgbClr val="F4A261"/>
            </a:solidFill>
            <a:prstDash val="solid"/>
          </a:ln>
        </p:spPr>
      </p:sp>
      <p:sp>
        <p:nvSpPr>
          <p:cNvPr id="58" name="Text 56"/>
          <p:cNvSpPr/>
          <p:nvPr/>
        </p:nvSpPr>
        <p:spPr>
          <a:xfrm>
            <a:off x="6473952" y="4160520"/>
            <a:ext cx="4937760"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  </a:t>
            </a:r>
            <a:pPr indent="0" marL="0">
              <a:buNone/>
            </a:pPr>
            <a:r>
              <a:rPr lang="en-US" sz="1200" dirty="0">
                <a:solidFill>
                  <a:srgbClr val="0F172A"/>
                </a:solidFill>
                <a:latin typeface="Calibri" pitchFamily="34" charset="0"/>
                <a:ea typeface="Calibri" pitchFamily="34" charset="-122"/>
                <a:cs typeface="Calibri" pitchFamily="34" charset="-120"/>
              </a:rPr>
              <a:t>Chunk boundaries cut mid-word</a:t>
            </a:r>
            <a:endParaRPr lang="en-US" sz="1200" dirty="0"/>
          </a:p>
        </p:txBody>
      </p:sp>
      <p:sp>
        <p:nvSpPr>
          <p:cNvPr id="59" name="Text 57"/>
          <p:cNvSpPr/>
          <p:nvPr/>
        </p:nvSpPr>
        <p:spPr>
          <a:xfrm>
            <a:off x="6473952" y="4453128"/>
            <a:ext cx="4937760"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  </a:t>
            </a:r>
            <a:pPr indent="0" marL="0">
              <a:buNone/>
            </a:pPr>
            <a:r>
              <a:rPr lang="en-US" sz="1200" dirty="0">
                <a:solidFill>
                  <a:srgbClr val="0F172A"/>
                </a:solidFill>
                <a:latin typeface="Calibri" pitchFamily="34" charset="0"/>
                <a:ea typeface="Calibri" pitchFamily="34" charset="-122"/>
                <a:cs typeface="Calibri" pitchFamily="34" charset="-120"/>
              </a:rPr>
              <a:t>Lost cross-chunk context</a:t>
            </a:r>
            <a:endParaRPr lang="en-US" sz="1200" dirty="0"/>
          </a:p>
        </p:txBody>
      </p:sp>
      <p:sp>
        <p:nvSpPr>
          <p:cNvPr id="60" name="Text 58"/>
          <p:cNvSpPr/>
          <p:nvPr/>
        </p:nvSpPr>
        <p:spPr>
          <a:xfrm>
            <a:off x="6473952" y="4745736"/>
            <a:ext cx="4937760"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  </a:t>
            </a:r>
            <a:pPr indent="0" marL="0">
              <a:buNone/>
            </a:pPr>
            <a:r>
              <a:rPr lang="en-US" sz="1200" dirty="0">
                <a:solidFill>
                  <a:srgbClr val="0F172A"/>
                </a:solidFill>
                <a:latin typeface="Calibri" pitchFamily="34" charset="0"/>
                <a:ea typeface="Calibri" pitchFamily="34" charset="-122"/>
                <a:cs typeface="Calibri" pitchFamily="34" charset="-120"/>
              </a:rPr>
              <a:t>Repeated text &amp; reconstruction errors</a:t>
            </a:r>
            <a:endParaRPr lang="en-US" sz="1200" dirty="0"/>
          </a:p>
        </p:txBody>
      </p:sp>
      <p:sp>
        <p:nvSpPr>
          <p:cNvPr id="61" name="Text 59"/>
          <p:cNvSpPr/>
          <p:nvPr/>
        </p:nvSpPr>
        <p:spPr>
          <a:xfrm>
            <a:off x="6473952" y="5038344"/>
            <a:ext cx="4937760"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  </a:t>
            </a:r>
            <a:pPr indent="0" marL="0">
              <a:buNone/>
            </a:pPr>
            <a:r>
              <a:rPr lang="en-US" sz="1200" dirty="0">
                <a:solidFill>
                  <a:srgbClr val="0F172A"/>
                </a:solidFill>
                <a:latin typeface="Calibri" pitchFamily="34" charset="0"/>
                <a:ea typeface="Calibri" pitchFamily="34" charset="-122"/>
                <a:cs typeface="Calibri" pitchFamily="34" charset="-120"/>
              </a:rPr>
              <a:t>Punctuation drift</a:t>
            </a:r>
            <a:endParaRPr lang="en-US" sz="1200" dirty="0"/>
          </a:p>
        </p:txBody>
      </p:sp>
      <p:sp>
        <p:nvSpPr>
          <p:cNvPr id="62" name="Text 60"/>
          <p:cNvSpPr/>
          <p:nvPr/>
        </p:nvSpPr>
        <p:spPr>
          <a:xfrm>
            <a:off x="6473952" y="5330952"/>
            <a:ext cx="4937760"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  </a:t>
            </a:r>
            <a:pPr indent="0" marL="0">
              <a:buNone/>
            </a:pPr>
            <a:r>
              <a:rPr lang="en-US" sz="1200" dirty="0">
                <a:solidFill>
                  <a:srgbClr val="0F172A"/>
                </a:solidFill>
                <a:latin typeface="Calibri" pitchFamily="34" charset="0"/>
                <a:ea typeface="Calibri" pitchFamily="34" charset="-122"/>
                <a:cs typeface="Calibri" pitchFamily="34" charset="-120"/>
              </a:rPr>
              <a:t>Arabic spelling variation (أ/إ/آ, ى/ي, ة/ه)</a:t>
            </a:r>
            <a:endParaRPr lang="en-US" sz="1200" dirty="0"/>
          </a:p>
        </p:txBody>
      </p:sp>
      <p:sp>
        <p:nvSpPr>
          <p:cNvPr id="63" name="Text 61"/>
          <p:cNvSpPr/>
          <p:nvPr/>
        </p:nvSpPr>
        <p:spPr>
          <a:xfrm>
            <a:off x="6473952" y="5623560"/>
            <a:ext cx="4937760"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  </a:t>
            </a:r>
            <a:pPr indent="0" marL="0">
              <a:buNone/>
            </a:pPr>
            <a:r>
              <a:rPr lang="en-US" sz="1200" dirty="0">
                <a:solidFill>
                  <a:srgbClr val="0F172A"/>
                </a:solidFill>
                <a:latin typeface="Calibri" pitchFamily="34" charset="0"/>
                <a:ea typeface="Calibri" pitchFamily="34" charset="-122"/>
                <a:cs typeface="Calibri" pitchFamily="34" charset="-120"/>
              </a:rPr>
              <a:t>Domain vocabulary errors</a:t>
            </a:r>
            <a:endParaRPr lang="en-US" sz="1200" dirty="0"/>
          </a:p>
        </p:txBody>
      </p:sp>
      <p:sp>
        <p:nvSpPr>
          <p:cNvPr id="64" name="Text 62"/>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65" name="Text 63"/>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Build it, measure it, improve it</a:t>
            </a:r>
            <a:endParaRPr lang="en-US" sz="3000" dirty="0"/>
          </a:p>
        </p:txBody>
      </p:sp>
      <p:sp>
        <p:nvSpPr>
          <p:cNvPr id="4" name="Shape 2"/>
          <p:cNvSpPr/>
          <p:nvPr/>
        </p:nvSpPr>
        <p:spPr>
          <a:xfrm>
            <a:off x="548640" y="1783080"/>
            <a:ext cx="3703320" cy="2103120"/>
          </a:xfrm>
          <a:prstGeom prst="rect">
            <a:avLst/>
          </a:prstGeom>
          <a:solidFill>
            <a:srgbClr val="F4F7FB"/>
          </a:solidFill>
          <a:ln w="12700">
            <a:solidFill>
              <a:srgbClr val="E2E8F0"/>
            </a:solidFill>
            <a:prstDash val="solid"/>
          </a:ln>
        </p:spPr>
      </p:sp>
      <p:sp>
        <p:nvSpPr>
          <p:cNvPr id="5" name="Shape 3"/>
          <p:cNvSpPr/>
          <p:nvPr/>
        </p:nvSpPr>
        <p:spPr>
          <a:xfrm>
            <a:off x="548640" y="1783080"/>
            <a:ext cx="73152" cy="2103120"/>
          </a:xfrm>
          <a:prstGeom prst="rect">
            <a:avLst/>
          </a:prstGeom>
          <a:solidFill>
            <a:srgbClr val="F4A261"/>
          </a:solidFill>
          <a:ln w="12700">
            <a:solidFill>
              <a:srgbClr val="F4A261"/>
            </a:solidFill>
            <a:prstDash val="solid"/>
          </a:ln>
        </p:spPr>
      </p:sp>
      <p:sp>
        <p:nvSpPr>
          <p:cNvPr id="6" name="Text 4"/>
          <p:cNvSpPr/>
          <p:nvPr/>
        </p:nvSpPr>
        <p:spPr>
          <a:xfrm>
            <a:off x="777240" y="1920240"/>
            <a:ext cx="1371600" cy="5486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01</a:t>
            </a:r>
            <a:endParaRPr lang="en-US" sz="2800" dirty="0"/>
          </a:p>
        </p:txBody>
      </p:sp>
      <p:sp>
        <p:nvSpPr>
          <p:cNvPr id="7" name="Text 5"/>
          <p:cNvSpPr/>
          <p:nvPr/>
        </p:nvSpPr>
        <p:spPr>
          <a:xfrm>
            <a:off x="777240" y="2560320"/>
            <a:ext cx="3383280" cy="64008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Establish a clear Whisper baseline</a:t>
            </a:r>
            <a:endParaRPr lang="en-US" sz="1500" dirty="0"/>
          </a:p>
        </p:txBody>
      </p:sp>
      <p:sp>
        <p:nvSpPr>
          <p:cNvPr id="8" name="Text 6"/>
          <p:cNvSpPr/>
          <p:nvPr/>
        </p:nvSpPr>
        <p:spPr>
          <a:xfrm>
            <a:off x="777240" y="3200400"/>
            <a:ext cx="338328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Reproducible reference point for every experiment</a:t>
            </a:r>
            <a:endParaRPr lang="en-US" sz="1100" dirty="0"/>
          </a:p>
        </p:txBody>
      </p:sp>
      <p:sp>
        <p:nvSpPr>
          <p:cNvPr id="9" name="Shape 7"/>
          <p:cNvSpPr/>
          <p:nvPr/>
        </p:nvSpPr>
        <p:spPr>
          <a:xfrm>
            <a:off x="548640" y="4114800"/>
            <a:ext cx="3703320" cy="2103120"/>
          </a:xfrm>
          <a:prstGeom prst="rect">
            <a:avLst/>
          </a:prstGeom>
          <a:solidFill>
            <a:srgbClr val="F4F7FB"/>
          </a:solidFill>
          <a:ln w="12700">
            <a:solidFill>
              <a:srgbClr val="E2E8F0"/>
            </a:solidFill>
            <a:prstDash val="solid"/>
          </a:ln>
        </p:spPr>
      </p:sp>
      <p:sp>
        <p:nvSpPr>
          <p:cNvPr id="10" name="Shape 8"/>
          <p:cNvSpPr/>
          <p:nvPr/>
        </p:nvSpPr>
        <p:spPr>
          <a:xfrm>
            <a:off x="548640" y="4114800"/>
            <a:ext cx="73152" cy="2103120"/>
          </a:xfrm>
          <a:prstGeom prst="rect">
            <a:avLst/>
          </a:prstGeom>
          <a:solidFill>
            <a:srgbClr val="F4A261"/>
          </a:solidFill>
          <a:ln w="12700">
            <a:solidFill>
              <a:srgbClr val="F4A261"/>
            </a:solidFill>
            <a:prstDash val="solid"/>
          </a:ln>
        </p:spPr>
      </p:sp>
      <p:sp>
        <p:nvSpPr>
          <p:cNvPr id="11" name="Text 9"/>
          <p:cNvSpPr/>
          <p:nvPr/>
        </p:nvSpPr>
        <p:spPr>
          <a:xfrm>
            <a:off x="777240" y="4251960"/>
            <a:ext cx="1371600" cy="5486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02</a:t>
            </a:r>
            <a:endParaRPr lang="en-US" sz="2800" dirty="0"/>
          </a:p>
        </p:txBody>
      </p:sp>
      <p:sp>
        <p:nvSpPr>
          <p:cNvPr id="12" name="Text 10"/>
          <p:cNvSpPr/>
          <p:nvPr/>
        </p:nvSpPr>
        <p:spPr>
          <a:xfrm>
            <a:off x="777240" y="4892040"/>
            <a:ext cx="3383280" cy="64008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Build a 30+ minute long-form pipeline</a:t>
            </a:r>
            <a:endParaRPr lang="en-US" sz="1500" dirty="0"/>
          </a:p>
        </p:txBody>
      </p:sp>
      <p:sp>
        <p:nvSpPr>
          <p:cNvPr id="13" name="Text 11"/>
          <p:cNvSpPr/>
          <p:nvPr/>
        </p:nvSpPr>
        <p:spPr>
          <a:xfrm>
            <a:off x="777240" y="5532120"/>
            <a:ext cx="338328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End-to-end audio → evaluated transcript</a:t>
            </a:r>
            <a:endParaRPr lang="en-US" sz="1100" dirty="0"/>
          </a:p>
        </p:txBody>
      </p:sp>
      <p:sp>
        <p:nvSpPr>
          <p:cNvPr id="14" name="Shape 12"/>
          <p:cNvSpPr/>
          <p:nvPr/>
        </p:nvSpPr>
        <p:spPr>
          <a:xfrm>
            <a:off x="4434840" y="1783080"/>
            <a:ext cx="3703320" cy="2103120"/>
          </a:xfrm>
          <a:prstGeom prst="rect">
            <a:avLst/>
          </a:prstGeom>
          <a:solidFill>
            <a:srgbClr val="F4F7FB"/>
          </a:solidFill>
          <a:ln w="12700">
            <a:solidFill>
              <a:srgbClr val="E2E8F0"/>
            </a:solidFill>
            <a:prstDash val="solid"/>
          </a:ln>
        </p:spPr>
      </p:sp>
      <p:sp>
        <p:nvSpPr>
          <p:cNvPr id="15" name="Shape 13"/>
          <p:cNvSpPr/>
          <p:nvPr/>
        </p:nvSpPr>
        <p:spPr>
          <a:xfrm>
            <a:off x="4434840" y="1783080"/>
            <a:ext cx="73152" cy="2103120"/>
          </a:xfrm>
          <a:prstGeom prst="rect">
            <a:avLst/>
          </a:prstGeom>
          <a:solidFill>
            <a:srgbClr val="F4A261"/>
          </a:solidFill>
          <a:ln w="12700">
            <a:solidFill>
              <a:srgbClr val="F4A261"/>
            </a:solidFill>
            <a:prstDash val="solid"/>
          </a:ln>
        </p:spPr>
      </p:sp>
      <p:sp>
        <p:nvSpPr>
          <p:cNvPr id="16" name="Text 14"/>
          <p:cNvSpPr/>
          <p:nvPr/>
        </p:nvSpPr>
        <p:spPr>
          <a:xfrm>
            <a:off x="4663440" y="1920240"/>
            <a:ext cx="1371600" cy="5486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03</a:t>
            </a:r>
            <a:endParaRPr lang="en-US" sz="2800" dirty="0"/>
          </a:p>
        </p:txBody>
      </p:sp>
      <p:sp>
        <p:nvSpPr>
          <p:cNvPr id="17" name="Text 15"/>
          <p:cNvSpPr/>
          <p:nvPr/>
        </p:nvSpPr>
        <p:spPr>
          <a:xfrm>
            <a:off x="4663440" y="2560320"/>
            <a:ext cx="3383280" cy="64008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Implement chunking, overlap &amp; reconstruction</a:t>
            </a:r>
            <a:endParaRPr lang="en-US" sz="1500" dirty="0"/>
          </a:p>
        </p:txBody>
      </p:sp>
      <p:sp>
        <p:nvSpPr>
          <p:cNvPr id="18" name="Text 16"/>
          <p:cNvSpPr/>
          <p:nvPr/>
        </p:nvSpPr>
        <p:spPr>
          <a:xfrm>
            <a:off x="4663440" y="3200400"/>
            <a:ext cx="338328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60s windows, 2s overlap, optional context prompt</a:t>
            </a:r>
            <a:endParaRPr lang="en-US" sz="1100" dirty="0"/>
          </a:p>
        </p:txBody>
      </p:sp>
      <p:sp>
        <p:nvSpPr>
          <p:cNvPr id="19" name="Shape 17"/>
          <p:cNvSpPr/>
          <p:nvPr/>
        </p:nvSpPr>
        <p:spPr>
          <a:xfrm>
            <a:off x="4434840" y="4114800"/>
            <a:ext cx="3703320" cy="2103120"/>
          </a:xfrm>
          <a:prstGeom prst="rect">
            <a:avLst/>
          </a:prstGeom>
          <a:solidFill>
            <a:srgbClr val="F4F7FB"/>
          </a:solidFill>
          <a:ln w="12700">
            <a:solidFill>
              <a:srgbClr val="E2E8F0"/>
            </a:solidFill>
            <a:prstDash val="solid"/>
          </a:ln>
        </p:spPr>
      </p:sp>
      <p:sp>
        <p:nvSpPr>
          <p:cNvPr id="20" name="Shape 18"/>
          <p:cNvSpPr/>
          <p:nvPr/>
        </p:nvSpPr>
        <p:spPr>
          <a:xfrm>
            <a:off x="4434840" y="4114800"/>
            <a:ext cx="73152" cy="2103120"/>
          </a:xfrm>
          <a:prstGeom prst="rect">
            <a:avLst/>
          </a:prstGeom>
          <a:solidFill>
            <a:srgbClr val="F4A261"/>
          </a:solidFill>
          <a:ln w="12700">
            <a:solidFill>
              <a:srgbClr val="F4A261"/>
            </a:solidFill>
            <a:prstDash val="solid"/>
          </a:ln>
        </p:spPr>
      </p:sp>
      <p:sp>
        <p:nvSpPr>
          <p:cNvPr id="21" name="Text 19"/>
          <p:cNvSpPr/>
          <p:nvPr/>
        </p:nvSpPr>
        <p:spPr>
          <a:xfrm>
            <a:off x="4663440" y="4251960"/>
            <a:ext cx="1371600" cy="5486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04</a:t>
            </a:r>
            <a:endParaRPr lang="en-US" sz="2800" dirty="0"/>
          </a:p>
        </p:txBody>
      </p:sp>
      <p:sp>
        <p:nvSpPr>
          <p:cNvPr id="22" name="Text 20"/>
          <p:cNvSpPr/>
          <p:nvPr/>
        </p:nvSpPr>
        <p:spPr>
          <a:xfrm>
            <a:off x="4663440" y="4892040"/>
            <a:ext cx="3383280" cy="64008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Apply Arabic normalization</a:t>
            </a:r>
            <a:endParaRPr lang="en-US" sz="1500" dirty="0"/>
          </a:p>
        </p:txBody>
      </p:sp>
      <p:sp>
        <p:nvSpPr>
          <p:cNvPr id="23" name="Text 21"/>
          <p:cNvSpPr/>
          <p:nvPr/>
        </p:nvSpPr>
        <p:spPr>
          <a:xfrm>
            <a:off x="4663440" y="5532120"/>
            <a:ext cx="338328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Tashkeel, alef variants, ة/ه, ى/ي, hamza, punctuation</a:t>
            </a:r>
            <a:endParaRPr lang="en-US" sz="1100" dirty="0"/>
          </a:p>
        </p:txBody>
      </p:sp>
      <p:sp>
        <p:nvSpPr>
          <p:cNvPr id="24" name="Shape 22"/>
          <p:cNvSpPr/>
          <p:nvPr/>
        </p:nvSpPr>
        <p:spPr>
          <a:xfrm>
            <a:off x="8321040" y="1783080"/>
            <a:ext cx="3703320" cy="2103120"/>
          </a:xfrm>
          <a:prstGeom prst="rect">
            <a:avLst/>
          </a:prstGeom>
          <a:solidFill>
            <a:srgbClr val="F4F7FB"/>
          </a:solidFill>
          <a:ln w="12700">
            <a:solidFill>
              <a:srgbClr val="E2E8F0"/>
            </a:solidFill>
            <a:prstDash val="solid"/>
          </a:ln>
        </p:spPr>
      </p:sp>
      <p:sp>
        <p:nvSpPr>
          <p:cNvPr id="25" name="Shape 23"/>
          <p:cNvSpPr/>
          <p:nvPr/>
        </p:nvSpPr>
        <p:spPr>
          <a:xfrm>
            <a:off x="8321040" y="1783080"/>
            <a:ext cx="73152" cy="2103120"/>
          </a:xfrm>
          <a:prstGeom prst="rect">
            <a:avLst/>
          </a:prstGeom>
          <a:solidFill>
            <a:srgbClr val="F4A261"/>
          </a:solidFill>
          <a:ln w="12700">
            <a:solidFill>
              <a:srgbClr val="F4A261"/>
            </a:solidFill>
            <a:prstDash val="solid"/>
          </a:ln>
        </p:spPr>
      </p:sp>
      <p:sp>
        <p:nvSpPr>
          <p:cNvPr id="26" name="Text 24"/>
          <p:cNvSpPr/>
          <p:nvPr/>
        </p:nvSpPr>
        <p:spPr>
          <a:xfrm>
            <a:off x="8549640" y="1920240"/>
            <a:ext cx="1371600" cy="5486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05</a:t>
            </a:r>
            <a:endParaRPr lang="en-US" sz="2800" dirty="0"/>
          </a:p>
        </p:txBody>
      </p:sp>
      <p:sp>
        <p:nvSpPr>
          <p:cNvPr id="27" name="Text 25"/>
          <p:cNvSpPr/>
          <p:nvPr/>
        </p:nvSpPr>
        <p:spPr>
          <a:xfrm>
            <a:off x="8549640" y="2560320"/>
            <a:ext cx="3383280" cy="64008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Evaluate with WER &amp; CER</a:t>
            </a:r>
            <a:endParaRPr lang="en-US" sz="1500" dirty="0"/>
          </a:p>
        </p:txBody>
      </p:sp>
      <p:sp>
        <p:nvSpPr>
          <p:cNvPr id="28" name="Text 26"/>
          <p:cNvSpPr/>
          <p:nvPr/>
        </p:nvSpPr>
        <p:spPr>
          <a:xfrm>
            <a:off x="8549640" y="3200400"/>
            <a:ext cx="338328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Raw WER, normalized WER, normalized CER</a:t>
            </a:r>
            <a:endParaRPr lang="en-US" sz="1100" dirty="0"/>
          </a:p>
        </p:txBody>
      </p:sp>
      <p:sp>
        <p:nvSpPr>
          <p:cNvPr id="29" name="Shape 27"/>
          <p:cNvSpPr/>
          <p:nvPr/>
        </p:nvSpPr>
        <p:spPr>
          <a:xfrm>
            <a:off x="8321040" y="4114800"/>
            <a:ext cx="3703320" cy="2103120"/>
          </a:xfrm>
          <a:prstGeom prst="rect">
            <a:avLst/>
          </a:prstGeom>
          <a:solidFill>
            <a:srgbClr val="F4F7FB"/>
          </a:solidFill>
          <a:ln w="12700">
            <a:solidFill>
              <a:srgbClr val="E2E8F0"/>
            </a:solidFill>
            <a:prstDash val="solid"/>
          </a:ln>
        </p:spPr>
      </p:sp>
      <p:sp>
        <p:nvSpPr>
          <p:cNvPr id="30" name="Shape 28"/>
          <p:cNvSpPr/>
          <p:nvPr/>
        </p:nvSpPr>
        <p:spPr>
          <a:xfrm>
            <a:off x="8321040" y="4114800"/>
            <a:ext cx="73152" cy="2103120"/>
          </a:xfrm>
          <a:prstGeom prst="rect">
            <a:avLst/>
          </a:prstGeom>
          <a:solidFill>
            <a:srgbClr val="F4A261"/>
          </a:solidFill>
          <a:ln w="12700">
            <a:solidFill>
              <a:srgbClr val="F4A261"/>
            </a:solidFill>
            <a:prstDash val="solid"/>
          </a:ln>
        </p:spPr>
      </p:sp>
      <p:sp>
        <p:nvSpPr>
          <p:cNvPr id="31" name="Text 29"/>
          <p:cNvSpPr/>
          <p:nvPr/>
        </p:nvSpPr>
        <p:spPr>
          <a:xfrm>
            <a:off x="8549640" y="4251960"/>
            <a:ext cx="1371600" cy="5486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06</a:t>
            </a:r>
            <a:endParaRPr lang="en-US" sz="2800" dirty="0"/>
          </a:p>
        </p:txBody>
      </p:sp>
      <p:sp>
        <p:nvSpPr>
          <p:cNvPr id="32" name="Text 30"/>
          <p:cNvSpPr/>
          <p:nvPr/>
        </p:nvSpPr>
        <p:spPr>
          <a:xfrm>
            <a:off x="8549640" y="4892040"/>
            <a:ext cx="3383280" cy="64008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Run structured experiments incl. fine-tuning</a:t>
            </a:r>
            <a:endParaRPr lang="en-US" sz="1500" dirty="0"/>
          </a:p>
        </p:txBody>
      </p:sp>
      <p:sp>
        <p:nvSpPr>
          <p:cNvPr id="33" name="Text 31"/>
          <p:cNvSpPr/>
          <p:nvPr/>
        </p:nvSpPr>
        <p:spPr>
          <a:xfrm>
            <a:off x="8549640" y="5532120"/>
            <a:ext cx="338328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8 experiments from baseline to model-level training</a:t>
            </a:r>
            <a:endParaRPr lang="en-US" sz="1100" dirty="0"/>
          </a:p>
        </p:txBody>
      </p:sp>
      <p:sp>
        <p:nvSpPr>
          <p:cNvPr id="34" name="Text 32"/>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35" name="Text 33"/>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Pipeline: input audio → evaluated transcript</a:t>
            </a:r>
            <a:endParaRPr lang="en-US" sz="3000" dirty="0"/>
          </a:p>
        </p:txBody>
      </p:sp>
      <p:sp>
        <p:nvSpPr>
          <p:cNvPr id="4" name="Shape 2"/>
          <p:cNvSpPr/>
          <p:nvPr/>
        </p:nvSpPr>
        <p:spPr>
          <a:xfrm>
            <a:off x="640080" y="2697480"/>
            <a:ext cx="1325880" cy="1005840"/>
          </a:xfrm>
          <a:prstGeom prst="roundRect">
            <a:avLst>
              <a:gd name="adj" fmla="val 7273"/>
            </a:avLst>
          </a:prstGeom>
          <a:solidFill>
            <a:srgbClr val="FFFFFF"/>
          </a:solidFill>
          <a:ln w="19050">
            <a:solidFill>
              <a:srgbClr val="1C7293"/>
            </a:solidFill>
            <a:prstDash val="solid"/>
          </a:ln>
        </p:spPr>
      </p:sp>
      <p:sp>
        <p:nvSpPr>
          <p:cNvPr id="5" name="Text 3"/>
          <p:cNvSpPr/>
          <p:nvPr/>
        </p:nvSpPr>
        <p:spPr>
          <a:xfrm>
            <a:off x="640080" y="2697480"/>
            <a:ext cx="1325880" cy="10058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Audio /</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Video Input</a:t>
            </a:r>
            <a:endParaRPr lang="en-US" sz="1100" dirty="0"/>
          </a:p>
        </p:txBody>
      </p:sp>
      <p:sp>
        <p:nvSpPr>
          <p:cNvPr id="6" name="Shape 4"/>
          <p:cNvSpPr/>
          <p:nvPr/>
        </p:nvSpPr>
        <p:spPr>
          <a:xfrm>
            <a:off x="2011680" y="3200400"/>
            <a:ext cx="-47941" cy="0"/>
          </a:xfrm>
          <a:prstGeom prst="line">
            <a:avLst/>
          </a:prstGeom>
          <a:noFill/>
          <a:ln w="19050">
            <a:solidFill>
              <a:srgbClr val="1C7293"/>
            </a:solidFill>
            <a:prstDash val="solid"/>
            <a:tailEnd type="triangle"/>
          </a:ln>
        </p:spPr>
      </p:sp>
      <p:sp>
        <p:nvSpPr>
          <p:cNvPr id="7" name="Shape 5"/>
          <p:cNvSpPr/>
          <p:nvPr/>
        </p:nvSpPr>
        <p:spPr>
          <a:xfrm>
            <a:off x="2009459" y="2697480"/>
            <a:ext cx="1325880" cy="1005840"/>
          </a:xfrm>
          <a:prstGeom prst="roundRect">
            <a:avLst>
              <a:gd name="adj" fmla="val 7273"/>
            </a:avLst>
          </a:prstGeom>
          <a:solidFill>
            <a:srgbClr val="FFFFFF"/>
          </a:solidFill>
          <a:ln w="19050">
            <a:solidFill>
              <a:srgbClr val="1C7293"/>
            </a:solidFill>
            <a:prstDash val="solid"/>
          </a:ln>
        </p:spPr>
      </p:sp>
      <p:sp>
        <p:nvSpPr>
          <p:cNvPr id="8" name="Text 6"/>
          <p:cNvSpPr/>
          <p:nvPr/>
        </p:nvSpPr>
        <p:spPr>
          <a:xfrm>
            <a:off x="2009459" y="2697480"/>
            <a:ext cx="1325880" cy="10058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Audio</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Extraction</a:t>
            </a:r>
            <a:endParaRPr lang="en-US" sz="1100" dirty="0"/>
          </a:p>
        </p:txBody>
      </p:sp>
      <p:sp>
        <p:nvSpPr>
          <p:cNvPr id="9" name="Shape 7"/>
          <p:cNvSpPr/>
          <p:nvPr/>
        </p:nvSpPr>
        <p:spPr>
          <a:xfrm>
            <a:off x="3381059" y="3200400"/>
            <a:ext cx="-47941" cy="0"/>
          </a:xfrm>
          <a:prstGeom prst="line">
            <a:avLst/>
          </a:prstGeom>
          <a:noFill/>
          <a:ln w="19050">
            <a:solidFill>
              <a:srgbClr val="1C7293"/>
            </a:solidFill>
            <a:prstDash val="solid"/>
            <a:tailEnd type="triangle"/>
          </a:ln>
        </p:spPr>
      </p:sp>
      <p:sp>
        <p:nvSpPr>
          <p:cNvPr id="10" name="Shape 8"/>
          <p:cNvSpPr/>
          <p:nvPr/>
        </p:nvSpPr>
        <p:spPr>
          <a:xfrm>
            <a:off x="3378839" y="2697480"/>
            <a:ext cx="1325880" cy="1005840"/>
          </a:xfrm>
          <a:prstGeom prst="roundRect">
            <a:avLst>
              <a:gd name="adj" fmla="val 7273"/>
            </a:avLst>
          </a:prstGeom>
          <a:solidFill>
            <a:srgbClr val="FFFFFF"/>
          </a:solidFill>
          <a:ln w="19050">
            <a:solidFill>
              <a:srgbClr val="1C7293"/>
            </a:solidFill>
            <a:prstDash val="solid"/>
          </a:ln>
        </p:spPr>
      </p:sp>
      <p:sp>
        <p:nvSpPr>
          <p:cNvPr id="11" name="Text 9"/>
          <p:cNvSpPr/>
          <p:nvPr/>
        </p:nvSpPr>
        <p:spPr>
          <a:xfrm>
            <a:off x="3378839" y="2697480"/>
            <a:ext cx="1325880" cy="10058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Chunking</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 Overlap</a:t>
            </a:r>
            <a:endParaRPr lang="en-US" sz="1100" dirty="0"/>
          </a:p>
        </p:txBody>
      </p:sp>
      <p:sp>
        <p:nvSpPr>
          <p:cNvPr id="12" name="Shape 10"/>
          <p:cNvSpPr/>
          <p:nvPr/>
        </p:nvSpPr>
        <p:spPr>
          <a:xfrm>
            <a:off x="4750439" y="3200400"/>
            <a:ext cx="-47941" cy="0"/>
          </a:xfrm>
          <a:prstGeom prst="line">
            <a:avLst/>
          </a:prstGeom>
          <a:noFill/>
          <a:ln w="19050">
            <a:solidFill>
              <a:srgbClr val="1C7293"/>
            </a:solidFill>
            <a:prstDash val="solid"/>
            <a:tailEnd type="triangle"/>
          </a:ln>
        </p:spPr>
      </p:sp>
      <p:sp>
        <p:nvSpPr>
          <p:cNvPr id="13" name="Shape 11"/>
          <p:cNvSpPr/>
          <p:nvPr/>
        </p:nvSpPr>
        <p:spPr>
          <a:xfrm>
            <a:off x="4748218" y="2697480"/>
            <a:ext cx="1325880" cy="1005840"/>
          </a:xfrm>
          <a:prstGeom prst="roundRect">
            <a:avLst>
              <a:gd name="adj" fmla="val 7273"/>
            </a:avLst>
          </a:prstGeom>
          <a:solidFill>
            <a:srgbClr val="065A82"/>
          </a:solidFill>
          <a:ln w="19050">
            <a:solidFill>
              <a:srgbClr val="065A82"/>
            </a:solidFill>
            <a:prstDash val="solid"/>
          </a:ln>
        </p:spPr>
      </p:sp>
      <p:sp>
        <p:nvSpPr>
          <p:cNvPr id="14" name="Text 12"/>
          <p:cNvSpPr/>
          <p:nvPr/>
        </p:nvSpPr>
        <p:spPr>
          <a:xfrm>
            <a:off x="4748218" y="2697480"/>
            <a:ext cx="13258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Whisper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ASR</a:t>
            </a:r>
            <a:endParaRPr lang="en-US" sz="1100" dirty="0"/>
          </a:p>
        </p:txBody>
      </p:sp>
      <p:sp>
        <p:nvSpPr>
          <p:cNvPr id="15" name="Shape 13"/>
          <p:cNvSpPr/>
          <p:nvPr/>
        </p:nvSpPr>
        <p:spPr>
          <a:xfrm>
            <a:off x="6119818" y="3200400"/>
            <a:ext cx="-47941" cy="0"/>
          </a:xfrm>
          <a:prstGeom prst="line">
            <a:avLst/>
          </a:prstGeom>
          <a:noFill/>
          <a:ln w="19050">
            <a:solidFill>
              <a:srgbClr val="1C7293"/>
            </a:solidFill>
            <a:prstDash val="solid"/>
            <a:tailEnd type="triangle"/>
          </a:ln>
        </p:spPr>
      </p:sp>
      <p:sp>
        <p:nvSpPr>
          <p:cNvPr id="16" name="Shape 14"/>
          <p:cNvSpPr/>
          <p:nvPr/>
        </p:nvSpPr>
        <p:spPr>
          <a:xfrm>
            <a:off x="6117597" y="2697480"/>
            <a:ext cx="1325880" cy="1005840"/>
          </a:xfrm>
          <a:prstGeom prst="roundRect">
            <a:avLst>
              <a:gd name="adj" fmla="val 7273"/>
            </a:avLst>
          </a:prstGeom>
          <a:solidFill>
            <a:srgbClr val="FFFFFF"/>
          </a:solidFill>
          <a:ln w="19050">
            <a:solidFill>
              <a:srgbClr val="1C7293"/>
            </a:solidFill>
            <a:prstDash val="solid"/>
          </a:ln>
        </p:spPr>
      </p:sp>
      <p:sp>
        <p:nvSpPr>
          <p:cNvPr id="17" name="Text 15"/>
          <p:cNvSpPr/>
          <p:nvPr/>
        </p:nvSpPr>
        <p:spPr>
          <a:xfrm>
            <a:off x="6117597" y="2697480"/>
            <a:ext cx="1325880" cy="10058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Optional</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Context</a:t>
            </a:r>
            <a:endParaRPr lang="en-US" sz="1100" dirty="0"/>
          </a:p>
        </p:txBody>
      </p:sp>
      <p:sp>
        <p:nvSpPr>
          <p:cNvPr id="18" name="Shape 16"/>
          <p:cNvSpPr/>
          <p:nvPr/>
        </p:nvSpPr>
        <p:spPr>
          <a:xfrm>
            <a:off x="7489197" y="3200400"/>
            <a:ext cx="-47941" cy="0"/>
          </a:xfrm>
          <a:prstGeom prst="line">
            <a:avLst/>
          </a:prstGeom>
          <a:noFill/>
          <a:ln w="19050">
            <a:solidFill>
              <a:srgbClr val="1C7293"/>
            </a:solidFill>
            <a:prstDash val="solid"/>
            <a:tailEnd type="triangle"/>
          </a:ln>
        </p:spPr>
      </p:sp>
      <p:sp>
        <p:nvSpPr>
          <p:cNvPr id="19" name="Shape 17"/>
          <p:cNvSpPr/>
          <p:nvPr/>
        </p:nvSpPr>
        <p:spPr>
          <a:xfrm>
            <a:off x="7486977" y="2697480"/>
            <a:ext cx="1325880" cy="1005840"/>
          </a:xfrm>
          <a:prstGeom prst="roundRect">
            <a:avLst>
              <a:gd name="adj" fmla="val 7273"/>
            </a:avLst>
          </a:prstGeom>
          <a:solidFill>
            <a:srgbClr val="065A82"/>
          </a:solidFill>
          <a:ln w="19050">
            <a:solidFill>
              <a:srgbClr val="065A82"/>
            </a:solidFill>
            <a:prstDash val="solid"/>
          </a:ln>
        </p:spPr>
      </p:sp>
      <p:sp>
        <p:nvSpPr>
          <p:cNvPr id="20" name="Text 18"/>
          <p:cNvSpPr/>
          <p:nvPr/>
        </p:nvSpPr>
        <p:spPr>
          <a:xfrm>
            <a:off x="7486977" y="2697480"/>
            <a:ext cx="13258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Transcript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Reconstruction</a:t>
            </a:r>
            <a:endParaRPr lang="en-US" sz="1100" dirty="0"/>
          </a:p>
        </p:txBody>
      </p:sp>
      <p:sp>
        <p:nvSpPr>
          <p:cNvPr id="21" name="Shape 19"/>
          <p:cNvSpPr/>
          <p:nvPr/>
        </p:nvSpPr>
        <p:spPr>
          <a:xfrm>
            <a:off x="8858577" y="3200400"/>
            <a:ext cx="-47941" cy="0"/>
          </a:xfrm>
          <a:prstGeom prst="line">
            <a:avLst/>
          </a:prstGeom>
          <a:noFill/>
          <a:ln w="19050">
            <a:solidFill>
              <a:srgbClr val="1C7293"/>
            </a:solidFill>
            <a:prstDash val="solid"/>
            <a:tailEnd type="triangle"/>
          </a:ln>
        </p:spPr>
      </p:sp>
      <p:sp>
        <p:nvSpPr>
          <p:cNvPr id="22" name="Shape 20"/>
          <p:cNvSpPr/>
          <p:nvPr/>
        </p:nvSpPr>
        <p:spPr>
          <a:xfrm>
            <a:off x="8856356" y="2697480"/>
            <a:ext cx="1325880" cy="1005840"/>
          </a:xfrm>
          <a:prstGeom prst="roundRect">
            <a:avLst>
              <a:gd name="adj" fmla="val 7273"/>
            </a:avLst>
          </a:prstGeom>
          <a:solidFill>
            <a:srgbClr val="065A82"/>
          </a:solidFill>
          <a:ln w="19050">
            <a:solidFill>
              <a:srgbClr val="065A82"/>
            </a:solidFill>
            <a:prstDash val="solid"/>
          </a:ln>
        </p:spPr>
      </p:sp>
      <p:sp>
        <p:nvSpPr>
          <p:cNvPr id="23" name="Text 21"/>
          <p:cNvSpPr/>
          <p:nvPr/>
        </p:nvSpPr>
        <p:spPr>
          <a:xfrm>
            <a:off x="8856356" y="2697480"/>
            <a:ext cx="13258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Arabic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Normalization</a:t>
            </a:r>
            <a:endParaRPr lang="en-US" sz="1100" dirty="0"/>
          </a:p>
        </p:txBody>
      </p:sp>
      <p:sp>
        <p:nvSpPr>
          <p:cNvPr id="24" name="Shape 22"/>
          <p:cNvSpPr/>
          <p:nvPr/>
        </p:nvSpPr>
        <p:spPr>
          <a:xfrm>
            <a:off x="10227956" y="3200400"/>
            <a:ext cx="-47941" cy="0"/>
          </a:xfrm>
          <a:prstGeom prst="line">
            <a:avLst/>
          </a:prstGeom>
          <a:noFill/>
          <a:ln w="19050">
            <a:solidFill>
              <a:srgbClr val="1C7293"/>
            </a:solidFill>
            <a:prstDash val="solid"/>
            <a:tailEnd type="triangle"/>
          </a:ln>
        </p:spPr>
      </p:sp>
      <p:sp>
        <p:nvSpPr>
          <p:cNvPr id="25" name="Shape 23"/>
          <p:cNvSpPr/>
          <p:nvPr/>
        </p:nvSpPr>
        <p:spPr>
          <a:xfrm>
            <a:off x="10225735" y="2697480"/>
            <a:ext cx="1325880" cy="1005840"/>
          </a:xfrm>
          <a:prstGeom prst="roundRect">
            <a:avLst>
              <a:gd name="adj" fmla="val 7273"/>
            </a:avLst>
          </a:prstGeom>
          <a:solidFill>
            <a:srgbClr val="065A82"/>
          </a:solidFill>
          <a:ln w="19050">
            <a:solidFill>
              <a:srgbClr val="065A82"/>
            </a:solidFill>
            <a:prstDash val="solid"/>
          </a:ln>
        </p:spPr>
      </p:sp>
      <p:sp>
        <p:nvSpPr>
          <p:cNvPr id="26" name="Text 24"/>
          <p:cNvSpPr/>
          <p:nvPr/>
        </p:nvSpPr>
        <p:spPr>
          <a:xfrm>
            <a:off x="10225735" y="2697480"/>
            <a:ext cx="13258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WER / CER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Evaluation</a:t>
            </a:r>
            <a:endParaRPr lang="en-US" sz="1100" dirty="0"/>
          </a:p>
        </p:txBody>
      </p:sp>
      <p:sp>
        <p:nvSpPr>
          <p:cNvPr id="27" name="Text 25"/>
          <p:cNvSpPr/>
          <p:nvPr/>
        </p:nvSpPr>
        <p:spPr>
          <a:xfrm>
            <a:off x="640080" y="3794760"/>
            <a:ext cx="1325880" cy="274320"/>
          </a:xfrm>
          <a:prstGeom prst="rect">
            <a:avLst/>
          </a:prstGeom>
          <a:noFill/>
          <a:ln/>
        </p:spPr>
        <p:txBody>
          <a:bodyPr wrap="square" lIns="0" tIns="0" rIns="0" bIns="0" rtlCol="0" anchor="ctr"/>
          <a:lstStyle/>
          <a:p>
            <a:pPr algn="ctr" indent="0" marL="0">
              <a:buNone/>
            </a:pPr>
            <a:r>
              <a:rPr lang="en-US" sz="900" spc="300" kern="0" dirty="0">
                <a:solidFill>
                  <a:srgbClr val="64748B"/>
                </a:solidFill>
                <a:latin typeface="Calibri" pitchFamily="34" charset="0"/>
                <a:ea typeface="Calibri" pitchFamily="34" charset="-122"/>
                <a:cs typeface="Calibri" pitchFamily="34" charset="-120"/>
              </a:rPr>
              <a:t>Step 1</a:t>
            </a:r>
            <a:endParaRPr lang="en-US" sz="900" dirty="0"/>
          </a:p>
        </p:txBody>
      </p:sp>
      <p:sp>
        <p:nvSpPr>
          <p:cNvPr id="28" name="Text 26"/>
          <p:cNvSpPr/>
          <p:nvPr/>
        </p:nvSpPr>
        <p:spPr>
          <a:xfrm>
            <a:off x="2009459" y="3794760"/>
            <a:ext cx="1325880" cy="274320"/>
          </a:xfrm>
          <a:prstGeom prst="rect">
            <a:avLst/>
          </a:prstGeom>
          <a:noFill/>
          <a:ln/>
        </p:spPr>
        <p:txBody>
          <a:bodyPr wrap="square" lIns="0" tIns="0" rIns="0" bIns="0" rtlCol="0" anchor="ctr"/>
          <a:lstStyle/>
          <a:p>
            <a:pPr algn="ctr" indent="0" marL="0">
              <a:buNone/>
            </a:pPr>
            <a:r>
              <a:rPr lang="en-US" sz="900" spc="300" kern="0" dirty="0">
                <a:solidFill>
                  <a:srgbClr val="64748B"/>
                </a:solidFill>
                <a:latin typeface="Calibri" pitchFamily="34" charset="0"/>
                <a:ea typeface="Calibri" pitchFamily="34" charset="-122"/>
                <a:cs typeface="Calibri" pitchFamily="34" charset="-120"/>
              </a:rPr>
              <a:t>Step 2</a:t>
            </a:r>
            <a:endParaRPr lang="en-US" sz="900" dirty="0"/>
          </a:p>
        </p:txBody>
      </p:sp>
      <p:sp>
        <p:nvSpPr>
          <p:cNvPr id="29" name="Text 27"/>
          <p:cNvSpPr/>
          <p:nvPr/>
        </p:nvSpPr>
        <p:spPr>
          <a:xfrm>
            <a:off x="3378839" y="3794760"/>
            <a:ext cx="1325880" cy="274320"/>
          </a:xfrm>
          <a:prstGeom prst="rect">
            <a:avLst/>
          </a:prstGeom>
          <a:noFill/>
          <a:ln/>
        </p:spPr>
        <p:txBody>
          <a:bodyPr wrap="square" lIns="0" tIns="0" rIns="0" bIns="0" rtlCol="0" anchor="ctr"/>
          <a:lstStyle/>
          <a:p>
            <a:pPr algn="ctr" indent="0" marL="0">
              <a:buNone/>
            </a:pPr>
            <a:r>
              <a:rPr lang="en-US" sz="900" spc="300" kern="0" dirty="0">
                <a:solidFill>
                  <a:srgbClr val="64748B"/>
                </a:solidFill>
                <a:latin typeface="Calibri" pitchFamily="34" charset="0"/>
                <a:ea typeface="Calibri" pitchFamily="34" charset="-122"/>
                <a:cs typeface="Calibri" pitchFamily="34" charset="-120"/>
              </a:rPr>
              <a:t>Step 3</a:t>
            </a:r>
            <a:endParaRPr lang="en-US" sz="900" dirty="0"/>
          </a:p>
        </p:txBody>
      </p:sp>
      <p:sp>
        <p:nvSpPr>
          <p:cNvPr id="30" name="Text 28"/>
          <p:cNvSpPr/>
          <p:nvPr/>
        </p:nvSpPr>
        <p:spPr>
          <a:xfrm>
            <a:off x="4748218" y="3794760"/>
            <a:ext cx="1325880" cy="274320"/>
          </a:xfrm>
          <a:prstGeom prst="rect">
            <a:avLst/>
          </a:prstGeom>
          <a:noFill/>
          <a:ln/>
        </p:spPr>
        <p:txBody>
          <a:bodyPr wrap="square" lIns="0" tIns="0" rIns="0" bIns="0" rtlCol="0" anchor="ctr"/>
          <a:lstStyle/>
          <a:p>
            <a:pPr algn="ctr" indent="0" marL="0">
              <a:buNone/>
            </a:pPr>
            <a:r>
              <a:rPr lang="en-US" sz="900" spc="300" kern="0" dirty="0">
                <a:solidFill>
                  <a:srgbClr val="64748B"/>
                </a:solidFill>
                <a:latin typeface="Calibri" pitchFamily="34" charset="0"/>
                <a:ea typeface="Calibri" pitchFamily="34" charset="-122"/>
                <a:cs typeface="Calibri" pitchFamily="34" charset="-120"/>
              </a:rPr>
              <a:t>Step 4</a:t>
            </a:r>
            <a:endParaRPr lang="en-US" sz="900" dirty="0"/>
          </a:p>
        </p:txBody>
      </p:sp>
      <p:sp>
        <p:nvSpPr>
          <p:cNvPr id="31" name="Text 29"/>
          <p:cNvSpPr/>
          <p:nvPr/>
        </p:nvSpPr>
        <p:spPr>
          <a:xfrm>
            <a:off x="6117597" y="3794760"/>
            <a:ext cx="1325880" cy="274320"/>
          </a:xfrm>
          <a:prstGeom prst="rect">
            <a:avLst/>
          </a:prstGeom>
          <a:noFill/>
          <a:ln/>
        </p:spPr>
        <p:txBody>
          <a:bodyPr wrap="square" lIns="0" tIns="0" rIns="0" bIns="0" rtlCol="0" anchor="ctr"/>
          <a:lstStyle/>
          <a:p>
            <a:pPr algn="ctr" indent="0" marL="0">
              <a:buNone/>
            </a:pPr>
            <a:r>
              <a:rPr lang="en-US" sz="900" spc="300" kern="0" dirty="0">
                <a:solidFill>
                  <a:srgbClr val="64748B"/>
                </a:solidFill>
                <a:latin typeface="Calibri" pitchFamily="34" charset="0"/>
                <a:ea typeface="Calibri" pitchFamily="34" charset="-122"/>
                <a:cs typeface="Calibri" pitchFamily="34" charset="-120"/>
              </a:rPr>
              <a:t>Step 5</a:t>
            </a:r>
            <a:endParaRPr lang="en-US" sz="900" dirty="0"/>
          </a:p>
        </p:txBody>
      </p:sp>
      <p:sp>
        <p:nvSpPr>
          <p:cNvPr id="32" name="Text 30"/>
          <p:cNvSpPr/>
          <p:nvPr/>
        </p:nvSpPr>
        <p:spPr>
          <a:xfrm>
            <a:off x="7486977" y="3794760"/>
            <a:ext cx="1325880" cy="274320"/>
          </a:xfrm>
          <a:prstGeom prst="rect">
            <a:avLst/>
          </a:prstGeom>
          <a:noFill/>
          <a:ln/>
        </p:spPr>
        <p:txBody>
          <a:bodyPr wrap="square" lIns="0" tIns="0" rIns="0" bIns="0" rtlCol="0" anchor="ctr"/>
          <a:lstStyle/>
          <a:p>
            <a:pPr algn="ctr" indent="0" marL="0">
              <a:buNone/>
            </a:pPr>
            <a:r>
              <a:rPr lang="en-US" sz="900" spc="300" kern="0" dirty="0">
                <a:solidFill>
                  <a:srgbClr val="64748B"/>
                </a:solidFill>
                <a:latin typeface="Calibri" pitchFamily="34" charset="0"/>
                <a:ea typeface="Calibri" pitchFamily="34" charset="-122"/>
                <a:cs typeface="Calibri" pitchFamily="34" charset="-120"/>
              </a:rPr>
              <a:t>Step 6</a:t>
            </a:r>
            <a:endParaRPr lang="en-US" sz="900" dirty="0"/>
          </a:p>
        </p:txBody>
      </p:sp>
      <p:sp>
        <p:nvSpPr>
          <p:cNvPr id="33" name="Text 31"/>
          <p:cNvSpPr/>
          <p:nvPr/>
        </p:nvSpPr>
        <p:spPr>
          <a:xfrm>
            <a:off x="8856356" y="3794760"/>
            <a:ext cx="1325880" cy="274320"/>
          </a:xfrm>
          <a:prstGeom prst="rect">
            <a:avLst/>
          </a:prstGeom>
          <a:noFill/>
          <a:ln/>
        </p:spPr>
        <p:txBody>
          <a:bodyPr wrap="square" lIns="0" tIns="0" rIns="0" bIns="0" rtlCol="0" anchor="ctr"/>
          <a:lstStyle/>
          <a:p>
            <a:pPr algn="ctr" indent="0" marL="0">
              <a:buNone/>
            </a:pPr>
            <a:r>
              <a:rPr lang="en-US" sz="900" spc="300" kern="0" dirty="0">
                <a:solidFill>
                  <a:srgbClr val="64748B"/>
                </a:solidFill>
                <a:latin typeface="Calibri" pitchFamily="34" charset="0"/>
                <a:ea typeface="Calibri" pitchFamily="34" charset="-122"/>
                <a:cs typeface="Calibri" pitchFamily="34" charset="-120"/>
              </a:rPr>
              <a:t>Step 7</a:t>
            </a:r>
            <a:endParaRPr lang="en-US" sz="900" dirty="0"/>
          </a:p>
        </p:txBody>
      </p:sp>
      <p:sp>
        <p:nvSpPr>
          <p:cNvPr id="34" name="Text 32"/>
          <p:cNvSpPr/>
          <p:nvPr/>
        </p:nvSpPr>
        <p:spPr>
          <a:xfrm>
            <a:off x="10225735" y="3794760"/>
            <a:ext cx="1325880" cy="274320"/>
          </a:xfrm>
          <a:prstGeom prst="rect">
            <a:avLst/>
          </a:prstGeom>
          <a:noFill/>
          <a:ln/>
        </p:spPr>
        <p:txBody>
          <a:bodyPr wrap="square" lIns="0" tIns="0" rIns="0" bIns="0" rtlCol="0" anchor="ctr"/>
          <a:lstStyle/>
          <a:p>
            <a:pPr algn="ctr" indent="0" marL="0">
              <a:buNone/>
            </a:pPr>
            <a:r>
              <a:rPr lang="en-US" sz="900" spc="300" kern="0" dirty="0">
                <a:solidFill>
                  <a:srgbClr val="64748B"/>
                </a:solidFill>
                <a:latin typeface="Calibri" pitchFamily="34" charset="0"/>
                <a:ea typeface="Calibri" pitchFamily="34" charset="-122"/>
                <a:cs typeface="Calibri" pitchFamily="34" charset="-120"/>
              </a:rPr>
              <a:t>Step 8</a:t>
            </a:r>
            <a:endParaRPr lang="en-US" sz="900" dirty="0"/>
          </a:p>
        </p:txBody>
      </p:sp>
      <p:sp>
        <p:nvSpPr>
          <p:cNvPr id="35" name="Shape 33"/>
          <p:cNvSpPr/>
          <p:nvPr/>
        </p:nvSpPr>
        <p:spPr>
          <a:xfrm>
            <a:off x="11231575" y="3200400"/>
            <a:ext cx="0" cy="1371600"/>
          </a:xfrm>
          <a:prstGeom prst="line">
            <a:avLst/>
          </a:prstGeom>
          <a:noFill/>
          <a:ln w="12700">
            <a:solidFill>
              <a:srgbClr val="64748B"/>
            </a:solidFill>
            <a:prstDash val="dash"/>
            <a:tailEnd type="triangle"/>
          </a:ln>
        </p:spPr>
      </p:sp>
      <p:sp>
        <p:nvSpPr>
          <p:cNvPr id="36" name="Shape 34"/>
          <p:cNvSpPr/>
          <p:nvPr/>
        </p:nvSpPr>
        <p:spPr>
          <a:xfrm>
            <a:off x="10362895" y="4572000"/>
            <a:ext cx="1691640" cy="777240"/>
          </a:xfrm>
          <a:prstGeom prst="roundRect">
            <a:avLst>
              <a:gd name="adj" fmla="val 5882"/>
            </a:avLst>
          </a:prstGeom>
          <a:solidFill>
            <a:srgbClr val="FFF7ED"/>
          </a:solidFill>
          <a:ln w="12700">
            <a:solidFill>
              <a:srgbClr val="F4A261"/>
            </a:solidFill>
            <a:prstDash val="dash"/>
          </a:ln>
        </p:spPr>
      </p:sp>
      <p:sp>
        <p:nvSpPr>
          <p:cNvPr id="37" name="Text 35"/>
          <p:cNvSpPr/>
          <p:nvPr/>
        </p:nvSpPr>
        <p:spPr>
          <a:xfrm>
            <a:off x="10362895" y="4572000"/>
            <a:ext cx="1691640" cy="777240"/>
          </a:xfrm>
          <a:prstGeom prst="rect">
            <a:avLst/>
          </a:prstGeom>
          <a:noFill/>
          <a:ln/>
        </p:spPr>
        <p:txBody>
          <a:bodyPr wrap="square" lIns="0" tIns="0" rIns="0" bIns="0" rtlCol="0" anchor="ctr"/>
          <a:lstStyle/>
          <a:p>
            <a:pPr algn="ctr" indent="0" marL="0">
              <a:buNone/>
            </a:pPr>
            <a:r>
              <a:rPr lang="en-US" sz="1000" i="1" dirty="0">
                <a:solidFill>
                  <a:srgbClr val="0F172A"/>
                </a:solidFill>
                <a:latin typeface="Calibri" pitchFamily="34" charset="0"/>
                <a:ea typeface="Calibri" pitchFamily="34" charset="-122"/>
                <a:cs typeface="Calibri" pitchFamily="34" charset="-120"/>
              </a:rPr>
              <a:t>Optional Clipper</a:t>
            </a:r>
            <a:endParaRPr lang="en-US" sz="1000" dirty="0"/>
          </a:p>
          <a:p>
            <a:pPr algn="ctr" indent="0" marL="0">
              <a:buNone/>
            </a:pPr>
            <a:r>
              <a:rPr lang="en-US" sz="1000" i="1" dirty="0">
                <a:solidFill>
                  <a:srgbClr val="0F172A"/>
                </a:solidFill>
                <a:latin typeface="Calibri" pitchFamily="34" charset="0"/>
                <a:ea typeface="Calibri" pitchFamily="34" charset="-122"/>
                <a:cs typeface="Calibri" pitchFamily="34" charset="-120"/>
              </a:rPr>
              <a:t>(downstream app)</a:t>
            </a:r>
            <a:endParaRPr lang="en-US" sz="1000" dirty="0"/>
          </a:p>
        </p:txBody>
      </p:sp>
      <p:sp>
        <p:nvSpPr>
          <p:cNvPr id="38" name="Shape 36"/>
          <p:cNvSpPr/>
          <p:nvPr/>
        </p:nvSpPr>
        <p:spPr>
          <a:xfrm>
            <a:off x="640080" y="5120640"/>
            <a:ext cx="182880" cy="182880"/>
          </a:xfrm>
          <a:prstGeom prst="rect">
            <a:avLst/>
          </a:prstGeom>
          <a:solidFill>
            <a:srgbClr val="065A82"/>
          </a:solidFill>
          <a:ln w="12700">
            <a:solidFill>
              <a:srgbClr val="065A82"/>
            </a:solidFill>
            <a:prstDash val="solid"/>
          </a:ln>
        </p:spPr>
      </p:sp>
      <p:sp>
        <p:nvSpPr>
          <p:cNvPr id="39" name="Text 37"/>
          <p:cNvSpPr/>
          <p:nvPr/>
        </p:nvSpPr>
        <p:spPr>
          <a:xfrm>
            <a:off x="868680" y="5074920"/>
            <a:ext cx="2743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Core evaluated stages</a:t>
            </a:r>
            <a:endParaRPr lang="en-US" sz="1000" dirty="0"/>
          </a:p>
        </p:txBody>
      </p:sp>
      <p:sp>
        <p:nvSpPr>
          <p:cNvPr id="40" name="Shape 38"/>
          <p:cNvSpPr/>
          <p:nvPr/>
        </p:nvSpPr>
        <p:spPr>
          <a:xfrm>
            <a:off x="3657600" y="5120640"/>
            <a:ext cx="182880" cy="182880"/>
          </a:xfrm>
          <a:prstGeom prst="rect">
            <a:avLst/>
          </a:prstGeom>
          <a:solidFill>
            <a:srgbClr val="FFF7ED"/>
          </a:solidFill>
          <a:ln w="12700">
            <a:solidFill>
              <a:srgbClr val="F4A261"/>
            </a:solidFill>
            <a:prstDash val="dash"/>
          </a:ln>
        </p:spPr>
      </p:sp>
      <p:sp>
        <p:nvSpPr>
          <p:cNvPr id="41" name="Text 39"/>
          <p:cNvSpPr/>
          <p:nvPr/>
        </p:nvSpPr>
        <p:spPr>
          <a:xfrm>
            <a:off x="3886200" y="5074920"/>
            <a:ext cx="27432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Not part of evaluation</a:t>
            </a:r>
            <a:endParaRPr lang="en-US" sz="1000" dirty="0"/>
          </a:p>
        </p:txBody>
      </p:sp>
      <p:sp>
        <p:nvSpPr>
          <p:cNvPr id="42" name="Text 40"/>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43" name="Text 41"/>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PREPROCESSING</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Arabic normalization — fair WER for orthographic variation</a:t>
            </a:r>
            <a:endParaRPr lang="en-US" sz="3000" dirty="0"/>
          </a:p>
        </p:txBody>
      </p:sp>
      <p:sp>
        <p:nvSpPr>
          <p:cNvPr id="4" name="Shape 2"/>
          <p:cNvSpPr/>
          <p:nvPr/>
        </p:nvSpPr>
        <p:spPr>
          <a:xfrm>
            <a:off x="548640" y="1783080"/>
            <a:ext cx="5486400" cy="4389120"/>
          </a:xfrm>
          <a:prstGeom prst="rect">
            <a:avLst/>
          </a:prstGeom>
          <a:solidFill>
            <a:srgbClr val="F4F7FB"/>
          </a:solidFill>
          <a:ln w="12700">
            <a:solidFill>
              <a:srgbClr val="E2E8F0"/>
            </a:solidFill>
            <a:prstDash val="solid"/>
          </a:ln>
        </p:spPr>
      </p:sp>
      <p:sp>
        <p:nvSpPr>
          <p:cNvPr id="5" name="Text 3"/>
          <p:cNvSpPr/>
          <p:nvPr/>
        </p:nvSpPr>
        <p:spPr>
          <a:xfrm>
            <a:off x="777240" y="1920240"/>
            <a:ext cx="5029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NORMALIZATION RULES</a:t>
            </a:r>
            <a:endParaRPr lang="en-US" sz="1100" dirty="0"/>
          </a:p>
        </p:txBody>
      </p:sp>
      <p:sp>
        <p:nvSpPr>
          <p:cNvPr id="6" name="Shape 4"/>
          <p:cNvSpPr/>
          <p:nvPr/>
        </p:nvSpPr>
        <p:spPr>
          <a:xfrm>
            <a:off x="777240" y="2377440"/>
            <a:ext cx="182880" cy="182880"/>
          </a:xfrm>
          <a:prstGeom prst="ellipse">
            <a:avLst/>
          </a:prstGeom>
          <a:solidFill>
            <a:srgbClr val="F4A261"/>
          </a:solidFill>
          <a:ln w="12700">
            <a:solidFill>
              <a:srgbClr val="F4A261"/>
            </a:solidFill>
            <a:prstDash val="solid"/>
          </a:ln>
        </p:spPr>
      </p:sp>
      <p:sp>
        <p:nvSpPr>
          <p:cNvPr id="7" name="Text 5"/>
          <p:cNvSpPr/>
          <p:nvPr/>
        </p:nvSpPr>
        <p:spPr>
          <a:xfrm>
            <a:off x="1051560" y="2286000"/>
            <a:ext cx="4846320" cy="36576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Remove diacritics / tashkeel</a:t>
            </a:r>
            <a:endParaRPr lang="en-US" sz="1300" dirty="0"/>
          </a:p>
        </p:txBody>
      </p:sp>
      <p:sp>
        <p:nvSpPr>
          <p:cNvPr id="8" name="Shape 6"/>
          <p:cNvSpPr/>
          <p:nvPr/>
        </p:nvSpPr>
        <p:spPr>
          <a:xfrm>
            <a:off x="777240" y="2788920"/>
            <a:ext cx="182880" cy="182880"/>
          </a:xfrm>
          <a:prstGeom prst="ellipse">
            <a:avLst/>
          </a:prstGeom>
          <a:solidFill>
            <a:srgbClr val="F4A261"/>
          </a:solidFill>
          <a:ln w="12700">
            <a:solidFill>
              <a:srgbClr val="F4A261"/>
            </a:solidFill>
            <a:prstDash val="solid"/>
          </a:ln>
        </p:spPr>
      </p:sp>
      <p:sp>
        <p:nvSpPr>
          <p:cNvPr id="9" name="Text 7"/>
          <p:cNvSpPr/>
          <p:nvPr/>
        </p:nvSpPr>
        <p:spPr>
          <a:xfrm>
            <a:off x="1051560" y="2697480"/>
            <a:ext cx="4846320" cy="36576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Remove tatweel (ـ)</a:t>
            </a:r>
            <a:endParaRPr lang="en-US" sz="1300" dirty="0"/>
          </a:p>
        </p:txBody>
      </p:sp>
      <p:sp>
        <p:nvSpPr>
          <p:cNvPr id="10" name="Shape 8"/>
          <p:cNvSpPr/>
          <p:nvPr/>
        </p:nvSpPr>
        <p:spPr>
          <a:xfrm>
            <a:off x="777240" y="3200400"/>
            <a:ext cx="182880" cy="182880"/>
          </a:xfrm>
          <a:prstGeom prst="ellipse">
            <a:avLst/>
          </a:prstGeom>
          <a:solidFill>
            <a:srgbClr val="F4A261"/>
          </a:solidFill>
          <a:ln w="12700">
            <a:solidFill>
              <a:srgbClr val="F4A261"/>
            </a:solidFill>
            <a:prstDash val="solid"/>
          </a:ln>
        </p:spPr>
      </p:sp>
      <p:sp>
        <p:nvSpPr>
          <p:cNvPr id="11" name="Text 9"/>
          <p:cNvSpPr/>
          <p:nvPr/>
        </p:nvSpPr>
        <p:spPr>
          <a:xfrm>
            <a:off x="1051560" y="3108960"/>
            <a:ext cx="4846320" cy="36576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Normalize أ / إ / آ / ٱ → ا</a:t>
            </a:r>
            <a:endParaRPr lang="en-US" sz="1300" dirty="0"/>
          </a:p>
        </p:txBody>
      </p:sp>
      <p:sp>
        <p:nvSpPr>
          <p:cNvPr id="12" name="Shape 10"/>
          <p:cNvSpPr/>
          <p:nvPr/>
        </p:nvSpPr>
        <p:spPr>
          <a:xfrm>
            <a:off x="777240" y="3611880"/>
            <a:ext cx="182880" cy="182880"/>
          </a:xfrm>
          <a:prstGeom prst="ellipse">
            <a:avLst/>
          </a:prstGeom>
          <a:solidFill>
            <a:srgbClr val="F4A261"/>
          </a:solidFill>
          <a:ln w="12700">
            <a:solidFill>
              <a:srgbClr val="F4A261"/>
            </a:solidFill>
            <a:prstDash val="solid"/>
          </a:ln>
        </p:spPr>
      </p:sp>
      <p:sp>
        <p:nvSpPr>
          <p:cNvPr id="13" name="Text 11"/>
          <p:cNvSpPr/>
          <p:nvPr/>
        </p:nvSpPr>
        <p:spPr>
          <a:xfrm>
            <a:off x="1051560" y="3520440"/>
            <a:ext cx="4846320" cy="36576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Normalize ى → ي</a:t>
            </a:r>
            <a:endParaRPr lang="en-US" sz="1300" dirty="0"/>
          </a:p>
        </p:txBody>
      </p:sp>
      <p:sp>
        <p:nvSpPr>
          <p:cNvPr id="14" name="Shape 12"/>
          <p:cNvSpPr/>
          <p:nvPr/>
        </p:nvSpPr>
        <p:spPr>
          <a:xfrm>
            <a:off x="777240" y="4023360"/>
            <a:ext cx="182880" cy="182880"/>
          </a:xfrm>
          <a:prstGeom prst="ellipse">
            <a:avLst/>
          </a:prstGeom>
          <a:solidFill>
            <a:srgbClr val="F4A261"/>
          </a:solidFill>
          <a:ln w="12700">
            <a:solidFill>
              <a:srgbClr val="F4A261"/>
            </a:solidFill>
            <a:prstDash val="solid"/>
          </a:ln>
        </p:spPr>
      </p:sp>
      <p:sp>
        <p:nvSpPr>
          <p:cNvPr id="15" name="Text 13"/>
          <p:cNvSpPr/>
          <p:nvPr/>
        </p:nvSpPr>
        <p:spPr>
          <a:xfrm>
            <a:off x="1051560" y="3931920"/>
            <a:ext cx="4846320" cy="36576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Normalize ة → ه</a:t>
            </a:r>
            <a:endParaRPr lang="en-US" sz="1300" dirty="0"/>
          </a:p>
        </p:txBody>
      </p:sp>
      <p:sp>
        <p:nvSpPr>
          <p:cNvPr id="16" name="Shape 14"/>
          <p:cNvSpPr/>
          <p:nvPr/>
        </p:nvSpPr>
        <p:spPr>
          <a:xfrm>
            <a:off x="777240" y="4434840"/>
            <a:ext cx="182880" cy="182880"/>
          </a:xfrm>
          <a:prstGeom prst="ellipse">
            <a:avLst/>
          </a:prstGeom>
          <a:solidFill>
            <a:srgbClr val="F4A261"/>
          </a:solidFill>
          <a:ln w="12700">
            <a:solidFill>
              <a:srgbClr val="F4A261"/>
            </a:solidFill>
            <a:prstDash val="solid"/>
          </a:ln>
        </p:spPr>
      </p:sp>
      <p:sp>
        <p:nvSpPr>
          <p:cNvPr id="17" name="Text 15"/>
          <p:cNvSpPr/>
          <p:nvPr/>
        </p:nvSpPr>
        <p:spPr>
          <a:xfrm>
            <a:off x="1051560" y="4343400"/>
            <a:ext cx="4846320" cy="36576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Normalize hamza forms (ؤ، ئ)</a:t>
            </a:r>
            <a:endParaRPr lang="en-US" sz="1300" dirty="0"/>
          </a:p>
        </p:txBody>
      </p:sp>
      <p:sp>
        <p:nvSpPr>
          <p:cNvPr id="18" name="Shape 16"/>
          <p:cNvSpPr/>
          <p:nvPr/>
        </p:nvSpPr>
        <p:spPr>
          <a:xfrm>
            <a:off x="777240" y="4846320"/>
            <a:ext cx="182880" cy="182880"/>
          </a:xfrm>
          <a:prstGeom prst="ellipse">
            <a:avLst/>
          </a:prstGeom>
          <a:solidFill>
            <a:srgbClr val="F4A261"/>
          </a:solidFill>
          <a:ln w="12700">
            <a:solidFill>
              <a:srgbClr val="F4A261"/>
            </a:solidFill>
            <a:prstDash val="solid"/>
          </a:ln>
        </p:spPr>
      </p:sp>
      <p:sp>
        <p:nvSpPr>
          <p:cNvPr id="19" name="Text 17"/>
          <p:cNvSpPr/>
          <p:nvPr/>
        </p:nvSpPr>
        <p:spPr>
          <a:xfrm>
            <a:off x="1051560" y="4754880"/>
            <a:ext cx="4846320" cy="36576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Strip punctuation for evaluation</a:t>
            </a:r>
            <a:endParaRPr lang="en-US" sz="1300" dirty="0"/>
          </a:p>
        </p:txBody>
      </p:sp>
      <p:sp>
        <p:nvSpPr>
          <p:cNvPr id="20" name="Shape 18"/>
          <p:cNvSpPr/>
          <p:nvPr/>
        </p:nvSpPr>
        <p:spPr>
          <a:xfrm>
            <a:off x="777240" y="5257800"/>
            <a:ext cx="182880" cy="182880"/>
          </a:xfrm>
          <a:prstGeom prst="ellipse">
            <a:avLst/>
          </a:prstGeom>
          <a:solidFill>
            <a:srgbClr val="F4A261"/>
          </a:solidFill>
          <a:ln w="12700">
            <a:solidFill>
              <a:srgbClr val="F4A261"/>
            </a:solidFill>
            <a:prstDash val="solid"/>
          </a:ln>
        </p:spPr>
      </p:sp>
      <p:sp>
        <p:nvSpPr>
          <p:cNvPr id="21" name="Text 19"/>
          <p:cNvSpPr/>
          <p:nvPr/>
        </p:nvSpPr>
        <p:spPr>
          <a:xfrm>
            <a:off x="1051560" y="5166360"/>
            <a:ext cx="4846320" cy="36576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Collapse whitespace</a:t>
            </a:r>
            <a:endParaRPr lang="en-US" sz="1300" dirty="0"/>
          </a:p>
        </p:txBody>
      </p:sp>
      <p:sp>
        <p:nvSpPr>
          <p:cNvPr id="22" name="Shape 20"/>
          <p:cNvSpPr/>
          <p:nvPr/>
        </p:nvSpPr>
        <p:spPr>
          <a:xfrm>
            <a:off x="6245352" y="1783080"/>
            <a:ext cx="5394960" cy="2057400"/>
          </a:xfrm>
          <a:prstGeom prst="rect">
            <a:avLst/>
          </a:prstGeom>
          <a:solidFill>
            <a:srgbClr val="FFFFFF"/>
          </a:solidFill>
          <a:ln w="12700">
            <a:solidFill>
              <a:srgbClr val="E2E8F0"/>
            </a:solidFill>
            <a:prstDash val="solid"/>
          </a:ln>
        </p:spPr>
      </p:sp>
      <p:sp>
        <p:nvSpPr>
          <p:cNvPr id="23" name="Text 21"/>
          <p:cNvSpPr/>
          <p:nvPr/>
        </p:nvSpPr>
        <p:spPr>
          <a:xfrm>
            <a:off x="6473952" y="1920240"/>
            <a:ext cx="4937760" cy="274320"/>
          </a:xfrm>
          <a:prstGeom prst="rect">
            <a:avLst/>
          </a:prstGeom>
          <a:noFill/>
          <a:ln/>
        </p:spPr>
        <p:txBody>
          <a:bodyPr wrap="square" lIns="0" tIns="0" rIns="0" bIns="0" rtlCol="0" anchor="ctr"/>
          <a:lstStyle/>
          <a:p>
            <a:pPr indent="0" marL="0">
              <a:buNone/>
            </a:pPr>
            <a:r>
              <a:rPr lang="en-US" sz="1100" b="1" spc="400" kern="0" dirty="0">
                <a:solidFill>
                  <a:srgbClr val="B45309"/>
                </a:solidFill>
                <a:latin typeface="Calibri" pitchFamily="34" charset="0"/>
                <a:ea typeface="Calibri" pitchFamily="34" charset="-122"/>
                <a:cs typeface="Calibri" pitchFamily="34" charset="-120"/>
              </a:rPr>
              <a:t>BEFORE</a:t>
            </a:r>
            <a:endParaRPr lang="en-US" sz="1100" dirty="0"/>
          </a:p>
        </p:txBody>
      </p:sp>
      <p:sp>
        <p:nvSpPr>
          <p:cNvPr id="24" name="Text 22"/>
          <p:cNvSpPr/>
          <p:nvPr/>
        </p:nvSpPr>
        <p:spPr>
          <a:xfrm>
            <a:off x="6473952" y="2286000"/>
            <a:ext cx="4937760" cy="1371600"/>
          </a:xfrm>
          <a:prstGeom prst="rect">
            <a:avLst/>
          </a:prstGeom>
          <a:noFill/>
          <a:ln/>
        </p:spPr>
        <p:txBody>
          <a:bodyPr wrap="square" lIns="0" tIns="0" rIns="0" bIns="0" rtlCol="0" anchor="ctr"/>
          <a:lstStyle/>
          <a:p>
            <a:pPr algn="r" indent="0" marL="0">
              <a:buNone/>
            </a:pPr>
            <a:r>
              <a:rPr lang="en-US" sz="2200" dirty="0">
                <a:solidFill>
                  <a:srgbClr val="0F172A"/>
                </a:solidFill>
                <a:latin typeface="Arial" pitchFamily="34" charset="0"/>
                <a:ea typeface="Arial" pitchFamily="34" charset="-122"/>
                <a:cs typeface="Arial" pitchFamily="34" charset="-120"/>
              </a:rPr>
              <a:t>إِنَّ الصَّلاةَ كَانَتْ عَلَى الْمُؤْمِنِينَ كِتاباً مَوْقُوتاً</a:t>
            </a:r>
            <a:endParaRPr lang="en-US" sz="2200" dirty="0"/>
          </a:p>
        </p:txBody>
      </p:sp>
      <p:sp>
        <p:nvSpPr>
          <p:cNvPr id="25" name="Shape 23"/>
          <p:cNvSpPr/>
          <p:nvPr/>
        </p:nvSpPr>
        <p:spPr>
          <a:xfrm>
            <a:off x="6245352" y="4023360"/>
            <a:ext cx="5394960" cy="2057400"/>
          </a:xfrm>
          <a:prstGeom prst="rect">
            <a:avLst/>
          </a:prstGeom>
          <a:solidFill>
            <a:srgbClr val="F0FDF4"/>
          </a:solidFill>
          <a:ln w="12700">
            <a:solidFill>
              <a:srgbClr val="0F766E"/>
            </a:solidFill>
            <a:prstDash val="solid"/>
          </a:ln>
        </p:spPr>
      </p:sp>
      <p:sp>
        <p:nvSpPr>
          <p:cNvPr id="26" name="Text 24"/>
          <p:cNvSpPr/>
          <p:nvPr/>
        </p:nvSpPr>
        <p:spPr>
          <a:xfrm>
            <a:off x="6473952" y="4160520"/>
            <a:ext cx="493776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AFTER NORMALIZATION</a:t>
            </a:r>
            <a:endParaRPr lang="en-US" sz="1100" dirty="0"/>
          </a:p>
        </p:txBody>
      </p:sp>
      <p:sp>
        <p:nvSpPr>
          <p:cNvPr id="27" name="Text 25"/>
          <p:cNvSpPr/>
          <p:nvPr/>
        </p:nvSpPr>
        <p:spPr>
          <a:xfrm>
            <a:off x="6473952" y="4526280"/>
            <a:ext cx="4937760" cy="1371600"/>
          </a:xfrm>
          <a:prstGeom prst="rect">
            <a:avLst/>
          </a:prstGeom>
          <a:noFill/>
          <a:ln/>
        </p:spPr>
        <p:txBody>
          <a:bodyPr wrap="square" lIns="0" tIns="0" rIns="0" bIns="0" rtlCol="0" anchor="ctr"/>
          <a:lstStyle/>
          <a:p>
            <a:pPr algn="r" indent="0" marL="0">
              <a:buNone/>
            </a:pPr>
            <a:r>
              <a:rPr lang="en-US" sz="2200" dirty="0">
                <a:solidFill>
                  <a:srgbClr val="0F172A"/>
                </a:solidFill>
                <a:latin typeface="Arial" pitchFamily="34" charset="0"/>
                <a:ea typeface="Arial" pitchFamily="34" charset="-122"/>
                <a:cs typeface="Arial" pitchFamily="34" charset="-120"/>
              </a:rPr>
              <a:t>ان الصلاه كانت علي المؤمنين كتابا موقوتا</a:t>
            </a:r>
            <a:endParaRPr lang="en-US" sz="2200" dirty="0"/>
          </a:p>
        </p:txBody>
      </p:sp>
      <p:sp>
        <p:nvSpPr>
          <p:cNvPr id="28" name="Text 26"/>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29" name="Text 27"/>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EVALUATION SETUP</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Dataset: Google FLEURS (Arabic, Egypt)</a:t>
            </a:r>
            <a:endParaRPr lang="en-US" sz="3000" dirty="0"/>
          </a:p>
        </p:txBody>
      </p:sp>
      <p:sp>
        <p:nvSpPr>
          <p:cNvPr id="4" name="Shape 2"/>
          <p:cNvSpPr/>
          <p:nvPr/>
        </p:nvSpPr>
        <p:spPr>
          <a:xfrm>
            <a:off x="548640" y="1783080"/>
            <a:ext cx="2743200" cy="1783080"/>
          </a:xfrm>
          <a:prstGeom prst="rect">
            <a:avLst/>
          </a:prstGeom>
          <a:solidFill>
            <a:srgbClr val="F4F7FB"/>
          </a:solidFill>
          <a:ln w="12700">
            <a:solidFill>
              <a:srgbClr val="E2E8F0"/>
            </a:solidFill>
            <a:prstDash val="solid"/>
          </a:ln>
        </p:spPr>
      </p:sp>
      <p:sp>
        <p:nvSpPr>
          <p:cNvPr id="5" name="Shape 3"/>
          <p:cNvSpPr/>
          <p:nvPr/>
        </p:nvSpPr>
        <p:spPr>
          <a:xfrm>
            <a:off x="548640" y="1783080"/>
            <a:ext cx="2743200" cy="73152"/>
          </a:xfrm>
          <a:prstGeom prst="rect">
            <a:avLst/>
          </a:prstGeom>
          <a:solidFill>
            <a:srgbClr val="F4A261"/>
          </a:solidFill>
          <a:ln w="12700">
            <a:solidFill>
              <a:srgbClr val="F4A261"/>
            </a:solidFill>
            <a:prstDash val="solid"/>
          </a:ln>
        </p:spPr>
      </p:sp>
      <p:sp>
        <p:nvSpPr>
          <p:cNvPr id="6" name="Text 4"/>
          <p:cNvSpPr/>
          <p:nvPr/>
        </p:nvSpPr>
        <p:spPr>
          <a:xfrm>
            <a:off x="685800" y="2011680"/>
            <a:ext cx="2468880" cy="777240"/>
          </a:xfrm>
          <a:prstGeom prst="rect">
            <a:avLst/>
          </a:prstGeom>
          <a:noFill/>
          <a:ln/>
        </p:spPr>
        <p:txBody>
          <a:bodyPr wrap="square" lIns="0" tIns="0" rIns="0" bIns="0" rtlCol="0" anchor="ctr"/>
          <a:lstStyle/>
          <a:p>
            <a:pPr indent="0" marL="0">
              <a:buNone/>
            </a:pPr>
            <a:r>
              <a:rPr lang="en-US" sz="4400" b="1" dirty="0">
                <a:solidFill>
                  <a:srgbClr val="065A82"/>
                </a:solidFill>
                <a:latin typeface="Cambria" pitchFamily="34" charset="0"/>
                <a:ea typeface="Cambria" pitchFamily="34" charset="-122"/>
                <a:cs typeface="Cambria" pitchFamily="34" charset="-120"/>
              </a:rPr>
              <a:t>30.07</a:t>
            </a:r>
            <a:endParaRPr lang="en-US" sz="4400" dirty="0"/>
          </a:p>
        </p:txBody>
      </p:sp>
      <p:sp>
        <p:nvSpPr>
          <p:cNvPr id="7" name="Text 5"/>
          <p:cNvSpPr/>
          <p:nvPr/>
        </p:nvSpPr>
        <p:spPr>
          <a:xfrm>
            <a:off x="685800" y="2743200"/>
            <a:ext cx="246888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minutes</a:t>
            </a:r>
            <a:endParaRPr lang="en-US" sz="1100" dirty="0"/>
          </a:p>
        </p:txBody>
      </p:sp>
      <p:sp>
        <p:nvSpPr>
          <p:cNvPr id="8" name="Text 6"/>
          <p:cNvSpPr/>
          <p:nvPr/>
        </p:nvSpPr>
        <p:spPr>
          <a:xfrm>
            <a:off x="685800" y="3063240"/>
            <a:ext cx="2468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Long-form test duration</a:t>
            </a:r>
            <a:endParaRPr lang="en-US" sz="1100" dirty="0"/>
          </a:p>
        </p:txBody>
      </p:sp>
      <p:sp>
        <p:nvSpPr>
          <p:cNvPr id="9" name="Shape 7"/>
          <p:cNvSpPr/>
          <p:nvPr/>
        </p:nvSpPr>
        <p:spPr>
          <a:xfrm>
            <a:off x="3456432" y="1783080"/>
            <a:ext cx="2743200" cy="1783080"/>
          </a:xfrm>
          <a:prstGeom prst="rect">
            <a:avLst/>
          </a:prstGeom>
          <a:solidFill>
            <a:srgbClr val="F4F7FB"/>
          </a:solidFill>
          <a:ln w="12700">
            <a:solidFill>
              <a:srgbClr val="E2E8F0"/>
            </a:solidFill>
            <a:prstDash val="solid"/>
          </a:ln>
        </p:spPr>
      </p:sp>
      <p:sp>
        <p:nvSpPr>
          <p:cNvPr id="10" name="Shape 8"/>
          <p:cNvSpPr/>
          <p:nvPr/>
        </p:nvSpPr>
        <p:spPr>
          <a:xfrm>
            <a:off x="3456432" y="1783080"/>
            <a:ext cx="2743200" cy="73152"/>
          </a:xfrm>
          <a:prstGeom prst="rect">
            <a:avLst/>
          </a:prstGeom>
          <a:solidFill>
            <a:srgbClr val="F4A261"/>
          </a:solidFill>
          <a:ln w="12700">
            <a:solidFill>
              <a:srgbClr val="F4A261"/>
            </a:solidFill>
            <a:prstDash val="solid"/>
          </a:ln>
        </p:spPr>
      </p:sp>
      <p:sp>
        <p:nvSpPr>
          <p:cNvPr id="11" name="Text 9"/>
          <p:cNvSpPr/>
          <p:nvPr/>
        </p:nvSpPr>
        <p:spPr>
          <a:xfrm>
            <a:off x="3593592" y="2011680"/>
            <a:ext cx="2468880" cy="777240"/>
          </a:xfrm>
          <a:prstGeom prst="rect">
            <a:avLst/>
          </a:prstGeom>
          <a:noFill/>
          <a:ln/>
        </p:spPr>
        <p:txBody>
          <a:bodyPr wrap="square" lIns="0" tIns="0" rIns="0" bIns="0" rtlCol="0" anchor="ctr"/>
          <a:lstStyle/>
          <a:p>
            <a:pPr indent="0" marL="0">
              <a:buNone/>
            </a:pPr>
            <a:r>
              <a:rPr lang="en-US" sz="4400" b="1" dirty="0">
                <a:solidFill>
                  <a:srgbClr val="065A82"/>
                </a:solidFill>
                <a:latin typeface="Cambria" pitchFamily="34" charset="0"/>
                <a:ea typeface="Cambria" pitchFamily="34" charset="-122"/>
                <a:cs typeface="Cambria" pitchFamily="34" charset="-120"/>
              </a:rPr>
              <a:t>167</a:t>
            </a:r>
            <a:endParaRPr lang="en-US" sz="4400" dirty="0"/>
          </a:p>
        </p:txBody>
      </p:sp>
      <p:sp>
        <p:nvSpPr>
          <p:cNvPr id="12" name="Text 10"/>
          <p:cNvSpPr/>
          <p:nvPr/>
        </p:nvSpPr>
        <p:spPr>
          <a:xfrm>
            <a:off x="3593592" y="2743200"/>
            <a:ext cx="246888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clips</a:t>
            </a:r>
            <a:endParaRPr lang="en-US" sz="1100" dirty="0"/>
          </a:p>
        </p:txBody>
      </p:sp>
      <p:sp>
        <p:nvSpPr>
          <p:cNvPr id="13" name="Text 11"/>
          <p:cNvSpPr/>
          <p:nvPr/>
        </p:nvSpPr>
        <p:spPr>
          <a:xfrm>
            <a:off x="3593592" y="3063240"/>
            <a:ext cx="2468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FLEURS validation clips concatenated</a:t>
            </a:r>
            <a:endParaRPr lang="en-US" sz="1100" dirty="0"/>
          </a:p>
        </p:txBody>
      </p:sp>
      <p:sp>
        <p:nvSpPr>
          <p:cNvPr id="14" name="Shape 12"/>
          <p:cNvSpPr/>
          <p:nvPr/>
        </p:nvSpPr>
        <p:spPr>
          <a:xfrm>
            <a:off x="6364224" y="1783080"/>
            <a:ext cx="2743200" cy="1783080"/>
          </a:xfrm>
          <a:prstGeom prst="rect">
            <a:avLst/>
          </a:prstGeom>
          <a:solidFill>
            <a:srgbClr val="F4F7FB"/>
          </a:solidFill>
          <a:ln w="12700">
            <a:solidFill>
              <a:srgbClr val="E2E8F0"/>
            </a:solidFill>
            <a:prstDash val="solid"/>
          </a:ln>
        </p:spPr>
      </p:sp>
      <p:sp>
        <p:nvSpPr>
          <p:cNvPr id="15" name="Shape 13"/>
          <p:cNvSpPr/>
          <p:nvPr/>
        </p:nvSpPr>
        <p:spPr>
          <a:xfrm>
            <a:off x="6364224" y="1783080"/>
            <a:ext cx="2743200" cy="73152"/>
          </a:xfrm>
          <a:prstGeom prst="rect">
            <a:avLst/>
          </a:prstGeom>
          <a:solidFill>
            <a:srgbClr val="F4A261"/>
          </a:solidFill>
          <a:ln w="12700">
            <a:solidFill>
              <a:srgbClr val="F4A261"/>
            </a:solidFill>
            <a:prstDash val="solid"/>
          </a:ln>
        </p:spPr>
      </p:sp>
      <p:sp>
        <p:nvSpPr>
          <p:cNvPr id="16" name="Text 14"/>
          <p:cNvSpPr/>
          <p:nvPr/>
        </p:nvSpPr>
        <p:spPr>
          <a:xfrm>
            <a:off x="6501384" y="2011680"/>
            <a:ext cx="2468880" cy="777240"/>
          </a:xfrm>
          <a:prstGeom prst="rect">
            <a:avLst/>
          </a:prstGeom>
          <a:noFill/>
          <a:ln/>
        </p:spPr>
        <p:txBody>
          <a:bodyPr wrap="square" lIns="0" tIns="0" rIns="0" bIns="0" rtlCol="0" anchor="ctr"/>
          <a:lstStyle/>
          <a:p>
            <a:pPr indent="0" marL="0">
              <a:buNone/>
            </a:pPr>
            <a:r>
              <a:rPr lang="en-US" sz="4400" b="1" dirty="0">
                <a:solidFill>
                  <a:srgbClr val="065A82"/>
                </a:solidFill>
                <a:latin typeface="Cambria" pitchFamily="34" charset="0"/>
                <a:ea typeface="Cambria" pitchFamily="34" charset="-122"/>
                <a:cs typeface="Cambria" pitchFamily="34" charset="-120"/>
              </a:rPr>
              <a:t>3,035</a:t>
            </a:r>
            <a:endParaRPr lang="en-US" sz="4400" dirty="0"/>
          </a:p>
        </p:txBody>
      </p:sp>
      <p:sp>
        <p:nvSpPr>
          <p:cNvPr id="17" name="Text 15"/>
          <p:cNvSpPr/>
          <p:nvPr/>
        </p:nvSpPr>
        <p:spPr>
          <a:xfrm>
            <a:off x="6501384" y="2743200"/>
            <a:ext cx="246888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words</a:t>
            </a:r>
            <a:endParaRPr lang="en-US" sz="1100" dirty="0"/>
          </a:p>
        </p:txBody>
      </p:sp>
      <p:sp>
        <p:nvSpPr>
          <p:cNvPr id="18" name="Text 16"/>
          <p:cNvSpPr/>
          <p:nvPr/>
        </p:nvSpPr>
        <p:spPr>
          <a:xfrm>
            <a:off x="6501384" y="3063240"/>
            <a:ext cx="2468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Reference transcript size</a:t>
            </a:r>
            <a:endParaRPr lang="en-US" sz="1100" dirty="0"/>
          </a:p>
        </p:txBody>
      </p:sp>
      <p:sp>
        <p:nvSpPr>
          <p:cNvPr id="19" name="Shape 17"/>
          <p:cNvSpPr/>
          <p:nvPr/>
        </p:nvSpPr>
        <p:spPr>
          <a:xfrm>
            <a:off x="9272016" y="1783080"/>
            <a:ext cx="2743200" cy="1783080"/>
          </a:xfrm>
          <a:prstGeom prst="rect">
            <a:avLst/>
          </a:prstGeom>
          <a:solidFill>
            <a:srgbClr val="F4F7FB"/>
          </a:solidFill>
          <a:ln w="12700">
            <a:solidFill>
              <a:srgbClr val="E2E8F0"/>
            </a:solidFill>
            <a:prstDash val="solid"/>
          </a:ln>
        </p:spPr>
      </p:sp>
      <p:sp>
        <p:nvSpPr>
          <p:cNvPr id="20" name="Shape 18"/>
          <p:cNvSpPr/>
          <p:nvPr/>
        </p:nvSpPr>
        <p:spPr>
          <a:xfrm>
            <a:off x="9272016" y="1783080"/>
            <a:ext cx="2743200" cy="73152"/>
          </a:xfrm>
          <a:prstGeom prst="rect">
            <a:avLst/>
          </a:prstGeom>
          <a:solidFill>
            <a:srgbClr val="F4A261"/>
          </a:solidFill>
          <a:ln w="12700">
            <a:solidFill>
              <a:srgbClr val="F4A261"/>
            </a:solidFill>
            <a:prstDash val="solid"/>
          </a:ln>
        </p:spPr>
      </p:sp>
      <p:sp>
        <p:nvSpPr>
          <p:cNvPr id="21" name="Text 19"/>
          <p:cNvSpPr/>
          <p:nvPr/>
        </p:nvSpPr>
        <p:spPr>
          <a:xfrm>
            <a:off x="9409176" y="2011680"/>
            <a:ext cx="2468880" cy="777240"/>
          </a:xfrm>
          <a:prstGeom prst="rect">
            <a:avLst/>
          </a:prstGeom>
          <a:noFill/>
          <a:ln/>
        </p:spPr>
        <p:txBody>
          <a:bodyPr wrap="square" lIns="0" tIns="0" rIns="0" bIns="0" rtlCol="0" anchor="ctr"/>
          <a:lstStyle/>
          <a:p>
            <a:pPr indent="0" marL="0">
              <a:buNone/>
            </a:pPr>
            <a:r>
              <a:rPr lang="en-US" sz="4400" b="1" dirty="0">
                <a:solidFill>
                  <a:srgbClr val="065A82"/>
                </a:solidFill>
                <a:latin typeface="Cambria" pitchFamily="34" charset="0"/>
                <a:ea typeface="Cambria" pitchFamily="34" charset="-122"/>
                <a:cs typeface="Cambria" pitchFamily="34" charset="-120"/>
              </a:rPr>
              <a:t>20</a:t>
            </a:r>
            <a:endParaRPr lang="en-US" sz="4400" dirty="0"/>
          </a:p>
        </p:txBody>
      </p:sp>
      <p:sp>
        <p:nvSpPr>
          <p:cNvPr id="22" name="Text 20"/>
          <p:cNvSpPr/>
          <p:nvPr/>
        </p:nvSpPr>
        <p:spPr>
          <a:xfrm>
            <a:off x="9409176" y="2743200"/>
            <a:ext cx="246888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samples</a:t>
            </a:r>
            <a:endParaRPr lang="en-US" sz="1100" dirty="0"/>
          </a:p>
        </p:txBody>
      </p:sp>
      <p:sp>
        <p:nvSpPr>
          <p:cNvPr id="23" name="Text 21"/>
          <p:cNvSpPr/>
          <p:nvPr/>
        </p:nvSpPr>
        <p:spPr>
          <a:xfrm>
            <a:off x="9409176" y="3063240"/>
            <a:ext cx="2468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Held-out fine-tuning eval set</a:t>
            </a:r>
            <a:endParaRPr lang="en-US" sz="1100" dirty="0"/>
          </a:p>
        </p:txBody>
      </p:sp>
      <p:sp>
        <p:nvSpPr>
          <p:cNvPr id="24" name="Shape 22"/>
          <p:cNvSpPr/>
          <p:nvPr/>
        </p:nvSpPr>
        <p:spPr>
          <a:xfrm>
            <a:off x="548640" y="3794760"/>
            <a:ext cx="11091672" cy="2377440"/>
          </a:xfrm>
          <a:prstGeom prst="rect">
            <a:avLst/>
          </a:prstGeom>
          <a:solidFill>
            <a:srgbClr val="FFFFFF"/>
          </a:solidFill>
          <a:ln w="12700">
            <a:solidFill>
              <a:srgbClr val="E2E8F0"/>
            </a:solidFill>
            <a:prstDash val="solid"/>
          </a:ln>
        </p:spPr>
      </p:sp>
      <p:sp>
        <p:nvSpPr>
          <p:cNvPr id="25" name="Shape 23"/>
          <p:cNvSpPr/>
          <p:nvPr/>
        </p:nvSpPr>
        <p:spPr>
          <a:xfrm>
            <a:off x="548640" y="3794760"/>
            <a:ext cx="73152" cy="2377440"/>
          </a:xfrm>
          <a:prstGeom prst="rect">
            <a:avLst/>
          </a:prstGeom>
          <a:solidFill>
            <a:srgbClr val="065A82"/>
          </a:solidFill>
          <a:ln w="12700">
            <a:solidFill>
              <a:srgbClr val="065A82"/>
            </a:solidFill>
            <a:prstDash val="solid"/>
          </a:ln>
        </p:spPr>
      </p:sp>
      <p:sp>
        <p:nvSpPr>
          <p:cNvPr id="26" name="Text 24"/>
          <p:cNvSpPr/>
          <p:nvPr/>
        </p:nvSpPr>
        <p:spPr>
          <a:xfrm>
            <a:off x="777240" y="3931920"/>
            <a:ext cx="1069848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DATASET CARD — FLEURS (ar_eg)</a:t>
            </a:r>
            <a:endParaRPr lang="en-US" sz="1100" dirty="0"/>
          </a:p>
        </p:txBody>
      </p:sp>
      <p:sp>
        <p:nvSpPr>
          <p:cNvPr id="27" name="Text 25"/>
          <p:cNvSpPr/>
          <p:nvPr/>
        </p:nvSpPr>
        <p:spPr>
          <a:xfrm>
            <a:off x="777240" y="4206240"/>
            <a:ext cx="10698480" cy="41148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Trusted Arabic audio with verified reference transcripts</a:t>
            </a:r>
            <a:endParaRPr lang="en-US" sz="1800" dirty="0"/>
          </a:p>
        </p:txBody>
      </p:sp>
      <p:sp>
        <p:nvSpPr>
          <p:cNvPr id="28" name="Text 26"/>
          <p:cNvSpPr/>
          <p:nvPr/>
        </p:nvSpPr>
        <p:spPr>
          <a:xfrm>
            <a:off x="777240" y="4736592"/>
            <a:ext cx="128016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Source</a:t>
            </a:r>
            <a:endParaRPr lang="en-US" sz="1100" dirty="0"/>
          </a:p>
        </p:txBody>
      </p:sp>
      <p:sp>
        <p:nvSpPr>
          <p:cNvPr id="29" name="Text 27"/>
          <p:cNvSpPr/>
          <p:nvPr/>
        </p:nvSpPr>
        <p:spPr>
          <a:xfrm>
            <a:off x="2103120" y="4736592"/>
            <a:ext cx="9326880" cy="2743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Google FLEURS (Few-shot Learning Evaluation of Universal Representations of Speech)</a:t>
            </a:r>
            <a:endParaRPr lang="en-US" sz="1100" dirty="0"/>
          </a:p>
        </p:txBody>
      </p:sp>
      <p:sp>
        <p:nvSpPr>
          <p:cNvPr id="30" name="Text 28"/>
          <p:cNvSpPr/>
          <p:nvPr/>
        </p:nvSpPr>
        <p:spPr>
          <a:xfrm>
            <a:off x="777240" y="5010912"/>
            <a:ext cx="128016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Split</a:t>
            </a:r>
            <a:endParaRPr lang="en-US" sz="1100" dirty="0"/>
          </a:p>
        </p:txBody>
      </p:sp>
      <p:sp>
        <p:nvSpPr>
          <p:cNvPr id="31" name="Text 29"/>
          <p:cNvSpPr/>
          <p:nvPr/>
        </p:nvSpPr>
        <p:spPr>
          <a:xfrm>
            <a:off x="2103120" y="5010912"/>
            <a:ext cx="9326880" cy="2743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Validation set, Egyptian Arabic (ar_eg)</a:t>
            </a:r>
            <a:endParaRPr lang="en-US" sz="1100" dirty="0"/>
          </a:p>
        </p:txBody>
      </p:sp>
      <p:sp>
        <p:nvSpPr>
          <p:cNvPr id="32" name="Text 30"/>
          <p:cNvSpPr/>
          <p:nvPr/>
        </p:nvSpPr>
        <p:spPr>
          <a:xfrm>
            <a:off x="777240" y="5285232"/>
            <a:ext cx="128016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Long-form</a:t>
            </a:r>
            <a:endParaRPr lang="en-US" sz="1100" dirty="0"/>
          </a:p>
        </p:txBody>
      </p:sp>
      <p:sp>
        <p:nvSpPr>
          <p:cNvPr id="33" name="Text 31"/>
          <p:cNvSpPr/>
          <p:nvPr/>
        </p:nvSpPr>
        <p:spPr>
          <a:xfrm>
            <a:off x="2103120" y="5285232"/>
            <a:ext cx="9326880" cy="2743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167 clips concatenated → 1,804.44 seconds (≈ 30.07 minutes)</a:t>
            </a:r>
            <a:endParaRPr lang="en-US" sz="1100" dirty="0"/>
          </a:p>
        </p:txBody>
      </p:sp>
      <p:sp>
        <p:nvSpPr>
          <p:cNvPr id="34" name="Text 32"/>
          <p:cNvSpPr/>
          <p:nvPr/>
        </p:nvSpPr>
        <p:spPr>
          <a:xfrm>
            <a:off x="777240" y="5559552"/>
            <a:ext cx="128016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Reference</a:t>
            </a:r>
            <a:endParaRPr lang="en-US" sz="1100" dirty="0"/>
          </a:p>
        </p:txBody>
      </p:sp>
      <p:sp>
        <p:nvSpPr>
          <p:cNvPr id="35" name="Text 33"/>
          <p:cNvSpPr/>
          <p:nvPr/>
        </p:nvSpPr>
        <p:spPr>
          <a:xfrm>
            <a:off x="2103120" y="5559552"/>
            <a:ext cx="9326880" cy="2743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Official FLEURS transcripts concatenated in the same order — 3,035 words / 17,717 characters</a:t>
            </a:r>
            <a:endParaRPr lang="en-US" sz="1100" dirty="0"/>
          </a:p>
        </p:txBody>
      </p:sp>
      <p:sp>
        <p:nvSpPr>
          <p:cNvPr id="36" name="Text 34"/>
          <p:cNvSpPr/>
          <p:nvPr/>
        </p:nvSpPr>
        <p:spPr>
          <a:xfrm>
            <a:off x="777240" y="5833872"/>
            <a:ext cx="128016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Fine-tune</a:t>
            </a:r>
            <a:endParaRPr lang="en-US" sz="1100" dirty="0"/>
          </a:p>
        </p:txBody>
      </p:sp>
      <p:sp>
        <p:nvSpPr>
          <p:cNvPr id="37" name="Text 35"/>
          <p:cNvSpPr/>
          <p:nvPr/>
        </p:nvSpPr>
        <p:spPr>
          <a:xfrm>
            <a:off x="2103120" y="5833872"/>
            <a:ext cx="9326880" cy="2743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20 held-out validation samples for model-level evaluation</a:t>
            </a:r>
            <a:endParaRPr lang="en-US" sz="1100" dirty="0"/>
          </a:p>
        </p:txBody>
      </p:sp>
      <p:sp>
        <p:nvSpPr>
          <p:cNvPr id="38" name="Text 36"/>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39" name="Text 37"/>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STRUCTURED EXPERIMENTS</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Eight experiments — pipeline-level and model-level</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914400"/>
                <a:gridCol w="4114800"/>
                <a:gridCol w="4233672"/>
                <a:gridCol w="182880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Experiment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Focus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384048">
                <a:tc>
                  <a:txBody>
                    <a:bodyPr/>
                    <a:lstStyle/>
                    <a:p>
                      <a:pPr algn="ctr" indent="0" marL="0">
                        <a:buNone/>
                      </a:pPr>
                      <a:r>
                        <a:rPr lang="en-US" sz="1100" b="1" dirty="0">
                          <a:solidFill>
                            <a:srgbClr val="065A82"/>
                          </a:solidFill>
                          <a:latin typeface="Calibri" pitchFamily="34" charset="0"/>
                          <a:ea typeface="Calibri" pitchFamily="34" charset="-122"/>
                          <a:cs typeface="Calibri" pitchFamily="34" charset="-120"/>
                        </a:rPr>
                        <a:t>E0</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Whisper baseline</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Reference point</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300" kern="0" dirty="0">
                          <a:solidFill>
                            <a:srgbClr val="1C7293"/>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100" b="1" dirty="0">
                          <a:solidFill>
                            <a:srgbClr val="065A82"/>
                          </a:solidFill>
                          <a:latin typeface="Calibri" pitchFamily="34" charset="0"/>
                          <a:ea typeface="Calibri" pitchFamily="34" charset="-122"/>
                          <a:cs typeface="Calibri" pitchFamily="34" charset="-120"/>
                        </a:rPr>
                        <a:t>E1</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60s chunking, no context</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Long-form pipeline w/o prompt</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000" b="1" spc="300" kern="0" dirty="0">
                          <a:solidFill>
                            <a:srgbClr val="1C7293"/>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r h="384048">
                <a:tc>
                  <a:txBody>
                    <a:bodyPr/>
                    <a:lstStyle/>
                    <a:p>
                      <a:pPr algn="ctr" indent="0" marL="0">
                        <a:buNone/>
                      </a:pPr>
                      <a:r>
                        <a:rPr lang="en-US" sz="1100" b="1" dirty="0">
                          <a:solidFill>
                            <a:srgbClr val="065A82"/>
                          </a:solidFill>
                          <a:latin typeface="Calibri" pitchFamily="34" charset="0"/>
                          <a:ea typeface="Calibri" pitchFamily="34" charset="-122"/>
                          <a:cs typeface="Calibri" pitchFamily="34" charset="-120"/>
                        </a:rPr>
                        <a:t>E2</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60s chunking + 24-word context</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Prompt-conditioned decoding</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300" kern="0" dirty="0">
                          <a:solidFill>
                            <a:srgbClr val="1C7293"/>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100" b="1" dirty="0">
                          <a:solidFill>
                            <a:srgbClr val="065A82"/>
                          </a:solidFill>
                          <a:latin typeface="Calibri" pitchFamily="34" charset="0"/>
                          <a:ea typeface="Calibri" pitchFamily="34" charset="-122"/>
                          <a:cs typeface="Calibri" pitchFamily="34" charset="-120"/>
                        </a:rPr>
                        <a:t>E3</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30s vs 60s chunk comparison</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Effect of chunk size</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000" b="1" spc="300" kern="0" dirty="0">
                          <a:solidFill>
                            <a:srgbClr val="1C7293"/>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r h="384048">
                <a:tc>
                  <a:txBody>
                    <a:bodyPr/>
                    <a:lstStyle/>
                    <a:p>
                      <a:pPr algn="ctr" indent="0" marL="0">
                        <a:buNone/>
                      </a:pPr>
                      <a:r>
                        <a:rPr lang="en-US" sz="1100" b="1" dirty="0">
                          <a:solidFill>
                            <a:srgbClr val="065A82"/>
                          </a:solidFill>
                          <a:latin typeface="Calibri" pitchFamily="34" charset="0"/>
                          <a:ea typeface="Calibri" pitchFamily="34" charset="-122"/>
                          <a:cs typeface="Calibri" pitchFamily="34" charset="-120"/>
                        </a:rPr>
                        <a:t>E4</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Small fine-tune — 50 samples</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Model-level adaptation</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300" kern="0" dirty="0">
                          <a:solidFill>
                            <a:srgbClr val="F4A261"/>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100" b="1" dirty="0">
                          <a:solidFill>
                            <a:srgbClr val="065A82"/>
                          </a:solidFill>
                          <a:latin typeface="Calibri" pitchFamily="34" charset="0"/>
                          <a:ea typeface="Calibri" pitchFamily="34" charset="-122"/>
                          <a:cs typeface="Calibri" pitchFamily="34" charset="-120"/>
                        </a:rPr>
                        <a:t>E5</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Larger fine-tune — 150 samples</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Effect of more training data</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000" b="1" spc="300" kern="0" dirty="0">
                          <a:solidFill>
                            <a:srgbClr val="F4A261"/>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r h="384048">
                <a:tc>
                  <a:txBody>
                    <a:bodyPr/>
                    <a:lstStyle/>
                    <a:p>
                      <a:pPr algn="ctr" indent="0" marL="0">
                        <a:buNone/>
                      </a:pPr>
                      <a:r>
                        <a:rPr lang="en-US" sz="1100" b="1" dirty="0">
                          <a:solidFill>
                            <a:srgbClr val="065A82"/>
                          </a:solidFill>
                          <a:latin typeface="Calibri" pitchFamily="34" charset="0"/>
                          <a:ea typeface="Calibri" pitchFamily="34" charset="-122"/>
                          <a:cs typeface="Calibri" pitchFamily="34" charset="-120"/>
                        </a:rPr>
                        <a:t>E6</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Larger fine-tune + augmentation</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Augmentation effect</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spc="300" kern="0" dirty="0">
                          <a:solidFill>
                            <a:srgbClr val="F4A261"/>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100" b="1" dirty="0">
                          <a:solidFill>
                            <a:srgbClr val="065A82"/>
                          </a:solidFill>
                          <a:latin typeface="Calibri" pitchFamily="34" charset="0"/>
                          <a:ea typeface="Calibri" pitchFamily="34" charset="-122"/>
                          <a:cs typeface="Calibri" pitchFamily="34" charset="-120"/>
                        </a:rPr>
                        <a:t>E7</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Arabic normalization on / off</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indent="0" marL="0">
                        <a:buNone/>
                      </a:pPr>
                      <a:r>
                        <a:rPr lang="en-US" sz="1100" dirty="0">
                          <a:solidFill>
                            <a:srgbClr val="64748B"/>
                          </a:solidFill>
                          <a:latin typeface="Calibri" pitchFamily="34" charset="0"/>
                          <a:ea typeface="Calibri" pitchFamily="34" charset="-122"/>
                          <a:cs typeface="Calibri" pitchFamily="34" charset="-120"/>
                        </a:rPr>
                        <a:t>Impact of normalization</a:t>
                      </a:r>
                      <a:endParaRPr lang="en-US" sz="11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000" b="1" spc="300" kern="0" dirty="0">
                          <a:solidFill>
                            <a:srgbClr val="1C7293"/>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91440" marR="91440" marT="91440" marB="9144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bl>
          </a:graphicData>
        </a:graphic>
      </p:graphicFrame>
      <p:sp>
        <p:nvSpPr>
          <p:cNvPr id="5" name="Shape 2"/>
          <p:cNvSpPr/>
          <p:nvPr/>
        </p:nvSpPr>
        <p:spPr>
          <a:xfrm>
            <a:off x="548640" y="5989320"/>
            <a:ext cx="182880" cy="182880"/>
          </a:xfrm>
          <a:prstGeom prst="rect">
            <a:avLst/>
          </a:prstGeom>
          <a:solidFill>
            <a:srgbClr val="1C7293"/>
          </a:solidFill>
          <a:ln w="12700">
            <a:solidFill>
              <a:srgbClr val="1C7293"/>
            </a:solidFill>
            <a:prstDash val="solid"/>
          </a:ln>
        </p:spPr>
      </p:sp>
      <p:sp>
        <p:nvSpPr>
          <p:cNvPr id="6" name="Text 3"/>
          <p:cNvSpPr/>
          <p:nvPr/>
        </p:nvSpPr>
        <p:spPr>
          <a:xfrm>
            <a:off x="777240" y="5943600"/>
            <a:ext cx="2743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Pipeline experiment</a:t>
            </a:r>
            <a:endParaRPr lang="en-US" sz="1000" dirty="0"/>
          </a:p>
        </p:txBody>
      </p:sp>
      <p:sp>
        <p:nvSpPr>
          <p:cNvPr id="7" name="Shape 4"/>
          <p:cNvSpPr/>
          <p:nvPr/>
        </p:nvSpPr>
        <p:spPr>
          <a:xfrm>
            <a:off x="3108960" y="5989320"/>
            <a:ext cx="182880" cy="182880"/>
          </a:xfrm>
          <a:prstGeom prst="rect">
            <a:avLst/>
          </a:prstGeom>
          <a:solidFill>
            <a:srgbClr val="F4A261"/>
          </a:solidFill>
          <a:ln w="12700">
            <a:solidFill>
              <a:srgbClr val="F4A261"/>
            </a:solidFill>
            <a:prstDash val="solid"/>
          </a:ln>
        </p:spPr>
      </p:sp>
      <p:sp>
        <p:nvSpPr>
          <p:cNvPr id="8" name="Text 5"/>
          <p:cNvSpPr/>
          <p:nvPr/>
        </p:nvSpPr>
        <p:spPr>
          <a:xfrm>
            <a:off x="3337560" y="5943600"/>
            <a:ext cx="4572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Model-level experiment (fine-tuning)</a:t>
            </a:r>
            <a:endParaRPr lang="en-US" sz="1000" dirty="0"/>
          </a:p>
        </p:txBody>
      </p:sp>
      <p:sp>
        <p:nvSpPr>
          <p:cNvPr id="9" name="Text 6"/>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10" name="Text 7"/>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EXPERIMENTAL RESULTS</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30+ minute long-form: best is 60s chunks, no context</a:t>
            </a:r>
            <a:endParaRPr lang="en-US" sz="3000" dirty="0"/>
          </a:p>
        </p:txBody>
      </p:sp>
      <p:sp>
        <p:nvSpPr>
          <p:cNvPr id="4" name="Shape 2"/>
          <p:cNvSpPr/>
          <p:nvPr/>
        </p:nvSpPr>
        <p:spPr>
          <a:xfrm>
            <a:off x="7315200" y="1783080"/>
            <a:ext cx="4325112" cy="1691640"/>
          </a:xfrm>
          <a:prstGeom prst="rect">
            <a:avLst/>
          </a:prstGeom>
          <a:solidFill>
            <a:srgbClr val="FFF7ED"/>
          </a:solidFill>
          <a:ln w="19050">
            <a:solidFill>
              <a:srgbClr val="F4A261"/>
            </a:solidFill>
            <a:prstDash val="solid"/>
          </a:ln>
        </p:spPr>
      </p:sp>
      <p:sp>
        <p:nvSpPr>
          <p:cNvPr id="5" name="Text 3"/>
          <p:cNvSpPr/>
          <p:nvPr/>
        </p:nvSpPr>
        <p:spPr>
          <a:xfrm>
            <a:off x="7498080" y="1920240"/>
            <a:ext cx="4023360" cy="274320"/>
          </a:xfrm>
          <a:prstGeom prst="rect">
            <a:avLst/>
          </a:prstGeom>
          <a:noFill/>
          <a:ln/>
        </p:spPr>
        <p:txBody>
          <a:bodyPr wrap="square" lIns="0" tIns="0" rIns="0" bIns="0" rtlCol="0" anchor="ctr"/>
          <a:lstStyle/>
          <a:p>
            <a:pPr indent="0" marL="0">
              <a:buNone/>
            </a:pPr>
            <a:r>
              <a:rPr lang="en-US" sz="1100" b="1" spc="400" kern="0" dirty="0">
                <a:solidFill>
                  <a:srgbClr val="F4A261"/>
                </a:solidFill>
                <a:latin typeface="Calibri" pitchFamily="34" charset="0"/>
                <a:ea typeface="Calibri" pitchFamily="34" charset="-122"/>
                <a:cs typeface="Calibri" pitchFamily="34" charset="-120"/>
              </a:rPr>
              <a:t>BEST CONFIGURATION</a:t>
            </a:r>
            <a:endParaRPr lang="en-US" sz="1100" dirty="0"/>
          </a:p>
        </p:txBody>
      </p:sp>
      <p:sp>
        <p:nvSpPr>
          <p:cNvPr id="6" name="Text 4"/>
          <p:cNvSpPr/>
          <p:nvPr/>
        </p:nvSpPr>
        <p:spPr>
          <a:xfrm>
            <a:off x="7498080" y="2240280"/>
            <a:ext cx="4023360" cy="411480"/>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60s chunks · 2s overlap · no context</a:t>
            </a:r>
            <a:endParaRPr lang="en-US" sz="1700" dirty="0"/>
          </a:p>
        </p:txBody>
      </p:sp>
      <p:sp>
        <p:nvSpPr>
          <p:cNvPr id="7" name="Text 5"/>
          <p:cNvSpPr/>
          <p:nvPr/>
        </p:nvSpPr>
        <p:spPr>
          <a:xfrm>
            <a:off x="7498080" y="2743200"/>
            <a:ext cx="4023360" cy="4114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Normalized WER  </a:t>
            </a:r>
            <a:pPr indent="0" marL="0">
              <a:buNone/>
            </a:pPr>
            <a:r>
              <a:rPr lang="en-US" sz="2200" b="1" dirty="0">
                <a:solidFill>
                  <a:srgbClr val="065A82"/>
                </a:solidFill>
                <a:latin typeface="Calibri" pitchFamily="34" charset="0"/>
                <a:ea typeface="Calibri" pitchFamily="34" charset="-122"/>
                <a:cs typeface="Calibri" pitchFamily="34" charset="-120"/>
              </a:rPr>
              <a:t>0.4926</a:t>
            </a:r>
            <a:endParaRPr lang="en-US" sz="1100" dirty="0"/>
          </a:p>
        </p:txBody>
      </p:sp>
      <p:sp>
        <p:nvSpPr>
          <p:cNvPr id="8" name="Text 6"/>
          <p:cNvSpPr/>
          <p:nvPr/>
        </p:nvSpPr>
        <p:spPr>
          <a:xfrm>
            <a:off x="7498080" y="3108960"/>
            <a:ext cx="40233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Normalized CER  </a:t>
            </a:r>
            <a:pPr indent="0" marL="0">
              <a:buNone/>
            </a:pPr>
            <a:r>
              <a:rPr lang="en-US" sz="1600" b="1" dirty="0">
                <a:solidFill>
                  <a:srgbClr val="065A82"/>
                </a:solidFill>
                <a:latin typeface="Calibri" pitchFamily="34" charset="0"/>
                <a:ea typeface="Calibri" pitchFamily="34" charset="-122"/>
                <a:cs typeface="Calibri" pitchFamily="34" charset="-120"/>
              </a:rPr>
              <a:t>0.2069</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91672" cy="914400"/>
        </p:xfrm>
        <a:graphic>
          <a:graphicData uri="http://schemas.openxmlformats.org/drawingml/2006/table">
            <a:tbl>
              <a:tblPr/>
              <a:tblGrid>
                <a:gridCol w="4050792"/>
                <a:gridCol w="960120"/>
                <a:gridCol w="1005840"/>
                <a:gridCol w="1143000"/>
                <a:gridCol w="1280160"/>
                <a:gridCol w="1325880"/>
                <a:gridCol w="1325880"/>
              </a:tblGrid>
              <a:tr h="5029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System</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Chunk</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Overlap</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Raw WER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Norm. WER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Norm. CER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502920">
                <a:tc>
                  <a:txBody>
                    <a:bodyPr/>
                    <a:lstStyle/>
                    <a:p>
                      <a:pPr algn="l" indent="0" marL="0">
                        <a:buNone/>
                      </a:pPr>
                      <a:r>
                        <a:rPr lang="en-US" sz="1100" b="1" dirty="0">
                          <a:solidFill>
                            <a:srgbClr val="065A82"/>
                          </a:solidFill>
                          <a:latin typeface="Calibri" pitchFamily="34" charset="0"/>
                          <a:ea typeface="Calibri" pitchFamily="34" charset="-122"/>
                          <a:cs typeface="Calibri" pitchFamily="34" charset="-120"/>
                        </a:rPr>
                        <a:t>★ whisper_base_30min_no_context</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60s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2s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0.5414</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766E"/>
                          </a:solidFill>
                          <a:latin typeface="Calibri" pitchFamily="34" charset="0"/>
                          <a:ea typeface="Calibri" pitchFamily="34" charset="-122"/>
                          <a:cs typeface="Calibri" pitchFamily="34" charset="-120"/>
                        </a:rPr>
                        <a:t>0.4926</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766E"/>
                          </a:solidFill>
                          <a:latin typeface="Calibri" pitchFamily="34" charset="0"/>
                          <a:ea typeface="Calibri" pitchFamily="34" charset="-122"/>
                          <a:cs typeface="Calibri" pitchFamily="34" charset="-120"/>
                        </a:rPr>
                        <a:t>0.2069</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r>
              <a:tr h="50292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whisper_base_30min_context</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60s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2s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24 words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0.6250</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0.5645</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0.3259</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whisper_base_30min_no_context_30s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30s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2s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0.5621</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0.5153</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0.2402</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bl>
          </a:graphicData>
        </a:graphic>
      </p:graphicFrame>
      <p:sp>
        <p:nvSpPr>
          <p:cNvPr id="10" name="Shape 7"/>
          <p:cNvSpPr/>
          <p:nvPr/>
        </p:nvSpPr>
        <p:spPr>
          <a:xfrm>
            <a:off x="548640" y="5760720"/>
            <a:ext cx="11091672" cy="640080"/>
          </a:xfrm>
          <a:prstGeom prst="rect">
            <a:avLst/>
          </a:prstGeom>
          <a:solidFill>
            <a:srgbClr val="F4F7FB"/>
          </a:solidFill>
          <a:ln w="12700">
            <a:solidFill>
              <a:srgbClr val="E2E8F0"/>
            </a:solidFill>
            <a:prstDash val="solid"/>
          </a:ln>
        </p:spPr>
      </p:sp>
      <p:sp>
        <p:nvSpPr>
          <p:cNvPr id="11" name="Text 8"/>
          <p:cNvSpPr/>
          <p:nvPr/>
        </p:nvSpPr>
        <p:spPr>
          <a:xfrm>
            <a:off x="777240" y="5806440"/>
            <a:ext cx="10698480" cy="548640"/>
          </a:xfrm>
          <a:prstGeom prst="rect">
            <a:avLst/>
          </a:prstGeom>
          <a:noFill/>
          <a:ln/>
        </p:spPr>
        <p:txBody>
          <a:bodyPr wrap="square" lIns="0" tIns="0" rIns="0" bIns="0" rtlCol="0" anchor="ctr"/>
          <a:lstStyle/>
          <a:p>
            <a:pPr indent="0" marL="0">
              <a:buNone/>
            </a:pPr>
            <a:r>
              <a:rPr lang="en-US" sz="1000" b="1" spc="400" kern="0" dirty="0">
                <a:solidFill>
                  <a:srgbClr val="F4A261"/>
                </a:solidFill>
                <a:latin typeface="Calibri" pitchFamily="34" charset="0"/>
                <a:ea typeface="Calibri" pitchFamily="34" charset="-122"/>
                <a:cs typeface="Calibri" pitchFamily="34" charset="-120"/>
              </a:rPr>
              <a:t>INSIGHT  </a:t>
            </a:r>
            <a:pPr indent="0" marL="0">
              <a:buNone/>
            </a:pPr>
            <a:r>
              <a:rPr lang="en-US" sz="1200" dirty="0">
                <a:solidFill>
                  <a:srgbClr val="0F172A"/>
                </a:solidFill>
                <a:latin typeface="Calibri" pitchFamily="34" charset="0"/>
                <a:ea typeface="Calibri" pitchFamily="34" charset="-122"/>
                <a:cs typeface="Calibri" pitchFamily="34" charset="-120"/>
              </a:rPr>
              <a:t>Context prompt hurt performance — likely due to error propagation across chunks. 60s outperformed 30s.</a:t>
            </a:r>
            <a:endParaRPr lang="en-US" sz="1000" dirty="0"/>
          </a:p>
        </p:txBody>
      </p:sp>
      <p:sp>
        <p:nvSpPr>
          <p:cNvPr id="12" name="Text 9"/>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13" name="Text 10"/>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NORMALIZATION ABLATION</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Normalization consistently reduces WER</a:t>
            </a:r>
            <a:endParaRPr lang="en-US" sz="3000" dirty="0"/>
          </a:p>
        </p:txBody>
      </p:sp>
      <p:graphicFrame>
        <p:nvGraphicFramePr>
          <p:cNvPr id="4" name="Chart 0" descr=""/>
          <p:cNvGraphicFramePr/>
          <p:nvPr/>
        </p:nvGraphicFramePr>
        <p:xfrm>
          <a:off x="548640" y="1783080"/>
          <a:ext cx="6858000" cy="42976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783080"/>
            <a:ext cx="4050792" cy="4297680"/>
          </a:xfrm>
          <a:prstGeom prst="rect">
            <a:avLst/>
          </a:prstGeom>
          <a:solidFill>
            <a:srgbClr val="F4F7FB"/>
          </a:solidFill>
          <a:ln w="12700">
            <a:solidFill>
              <a:srgbClr val="E2E8F0"/>
            </a:solidFill>
            <a:prstDash val="solid"/>
          </a:ln>
        </p:spPr>
      </p:sp>
      <p:sp>
        <p:nvSpPr>
          <p:cNvPr id="6" name="Text 3"/>
          <p:cNvSpPr/>
          <p:nvPr/>
        </p:nvSpPr>
        <p:spPr>
          <a:xfrm>
            <a:off x="7818120" y="1920240"/>
            <a:ext cx="36576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WER REDUCTION</a:t>
            </a:r>
            <a:endParaRPr lang="en-US" sz="1100" dirty="0"/>
          </a:p>
        </p:txBody>
      </p:sp>
      <p:sp>
        <p:nvSpPr>
          <p:cNvPr id="7" name="Text 4"/>
          <p:cNvSpPr/>
          <p:nvPr/>
        </p:nvSpPr>
        <p:spPr>
          <a:xfrm>
            <a:off x="7818120" y="2240280"/>
            <a:ext cx="365760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Absolute drop from raw to normalized</a:t>
            </a:r>
            <a:endParaRPr lang="en-US" sz="1100" dirty="0"/>
          </a:p>
        </p:txBody>
      </p:sp>
      <p:sp>
        <p:nvSpPr>
          <p:cNvPr id="8" name="Shape 5"/>
          <p:cNvSpPr/>
          <p:nvPr/>
        </p:nvSpPr>
        <p:spPr>
          <a:xfrm>
            <a:off x="7818120" y="2788920"/>
            <a:ext cx="3657600" cy="914400"/>
          </a:xfrm>
          <a:prstGeom prst="rect">
            <a:avLst/>
          </a:prstGeom>
          <a:solidFill>
            <a:srgbClr val="FFFFFF"/>
          </a:solidFill>
          <a:ln w="12700">
            <a:solidFill>
              <a:srgbClr val="E2E8F0"/>
            </a:solidFill>
            <a:prstDash val="solid"/>
          </a:ln>
        </p:spPr>
      </p:sp>
      <p:sp>
        <p:nvSpPr>
          <p:cNvPr id="9" name="Shape 6"/>
          <p:cNvSpPr/>
          <p:nvPr/>
        </p:nvSpPr>
        <p:spPr>
          <a:xfrm>
            <a:off x="7818120" y="2788920"/>
            <a:ext cx="54864" cy="914400"/>
          </a:xfrm>
          <a:prstGeom prst="rect">
            <a:avLst/>
          </a:prstGeom>
          <a:solidFill>
            <a:srgbClr val="0F766E"/>
          </a:solidFill>
          <a:ln w="12700">
            <a:solidFill>
              <a:srgbClr val="0F766E"/>
            </a:solidFill>
            <a:prstDash val="solid"/>
          </a:ln>
        </p:spPr>
      </p:sp>
      <p:sp>
        <p:nvSpPr>
          <p:cNvPr id="10" name="Text 7"/>
          <p:cNvSpPr/>
          <p:nvPr/>
        </p:nvSpPr>
        <p:spPr>
          <a:xfrm>
            <a:off x="7955280" y="2862072"/>
            <a:ext cx="228600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60s no context</a:t>
            </a:r>
            <a:endParaRPr lang="en-US" sz="1100" dirty="0"/>
          </a:p>
        </p:txBody>
      </p:sp>
      <p:sp>
        <p:nvSpPr>
          <p:cNvPr id="11" name="Text 8"/>
          <p:cNvSpPr/>
          <p:nvPr/>
        </p:nvSpPr>
        <p:spPr>
          <a:xfrm>
            <a:off x="7955280" y="3154680"/>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0.5414 → 0.4926</a:t>
            </a:r>
            <a:endParaRPr lang="en-US" sz="1000" dirty="0"/>
          </a:p>
        </p:txBody>
      </p:sp>
      <p:sp>
        <p:nvSpPr>
          <p:cNvPr id="12" name="Text 9"/>
          <p:cNvSpPr/>
          <p:nvPr/>
        </p:nvSpPr>
        <p:spPr>
          <a:xfrm>
            <a:off x="10287000" y="2926080"/>
            <a:ext cx="1143000" cy="640080"/>
          </a:xfrm>
          <a:prstGeom prst="rect">
            <a:avLst/>
          </a:prstGeom>
          <a:noFill/>
          <a:ln/>
        </p:spPr>
        <p:txBody>
          <a:bodyPr wrap="square" lIns="0" tIns="0" rIns="0" bIns="0" rtlCol="0" anchor="ctr"/>
          <a:lstStyle/>
          <a:p>
            <a:pPr algn="r" indent="0" marL="0">
              <a:buNone/>
            </a:pPr>
            <a:r>
              <a:rPr lang="en-US" sz="2200" b="1" dirty="0">
                <a:solidFill>
                  <a:srgbClr val="0F766E"/>
                </a:solidFill>
                <a:latin typeface="Cambria" pitchFamily="34" charset="0"/>
                <a:ea typeface="Cambria" pitchFamily="34" charset="-122"/>
                <a:cs typeface="Cambria" pitchFamily="34" charset="-120"/>
              </a:rPr>
              <a:t>−0.0487</a:t>
            </a:r>
            <a:endParaRPr lang="en-US" sz="2200" dirty="0"/>
          </a:p>
        </p:txBody>
      </p:sp>
      <p:sp>
        <p:nvSpPr>
          <p:cNvPr id="13" name="Shape 10"/>
          <p:cNvSpPr/>
          <p:nvPr/>
        </p:nvSpPr>
        <p:spPr>
          <a:xfrm>
            <a:off x="7818120" y="3840480"/>
            <a:ext cx="3657600" cy="914400"/>
          </a:xfrm>
          <a:prstGeom prst="rect">
            <a:avLst/>
          </a:prstGeom>
          <a:solidFill>
            <a:srgbClr val="FFFFFF"/>
          </a:solidFill>
          <a:ln w="12700">
            <a:solidFill>
              <a:srgbClr val="E2E8F0"/>
            </a:solidFill>
            <a:prstDash val="solid"/>
          </a:ln>
        </p:spPr>
      </p:sp>
      <p:sp>
        <p:nvSpPr>
          <p:cNvPr id="14" name="Shape 11"/>
          <p:cNvSpPr/>
          <p:nvPr/>
        </p:nvSpPr>
        <p:spPr>
          <a:xfrm>
            <a:off x="7818120" y="3840480"/>
            <a:ext cx="54864" cy="914400"/>
          </a:xfrm>
          <a:prstGeom prst="rect">
            <a:avLst/>
          </a:prstGeom>
          <a:solidFill>
            <a:srgbClr val="0F766E"/>
          </a:solidFill>
          <a:ln w="12700">
            <a:solidFill>
              <a:srgbClr val="0F766E"/>
            </a:solidFill>
            <a:prstDash val="solid"/>
          </a:ln>
        </p:spPr>
      </p:sp>
      <p:sp>
        <p:nvSpPr>
          <p:cNvPr id="15" name="Text 12"/>
          <p:cNvSpPr/>
          <p:nvPr/>
        </p:nvSpPr>
        <p:spPr>
          <a:xfrm>
            <a:off x="7955280" y="3913632"/>
            <a:ext cx="228600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60s with context</a:t>
            </a:r>
            <a:endParaRPr lang="en-US" sz="1100" dirty="0"/>
          </a:p>
        </p:txBody>
      </p:sp>
      <p:sp>
        <p:nvSpPr>
          <p:cNvPr id="16" name="Text 13"/>
          <p:cNvSpPr/>
          <p:nvPr/>
        </p:nvSpPr>
        <p:spPr>
          <a:xfrm>
            <a:off x="7955280" y="4206240"/>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0.6250 → 0.5645</a:t>
            </a:r>
            <a:endParaRPr lang="en-US" sz="1000" dirty="0"/>
          </a:p>
        </p:txBody>
      </p:sp>
      <p:sp>
        <p:nvSpPr>
          <p:cNvPr id="17" name="Text 14"/>
          <p:cNvSpPr/>
          <p:nvPr/>
        </p:nvSpPr>
        <p:spPr>
          <a:xfrm>
            <a:off x="10287000" y="3977640"/>
            <a:ext cx="1143000" cy="640080"/>
          </a:xfrm>
          <a:prstGeom prst="rect">
            <a:avLst/>
          </a:prstGeom>
          <a:noFill/>
          <a:ln/>
        </p:spPr>
        <p:txBody>
          <a:bodyPr wrap="square" lIns="0" tIns="0" rIns="0" bIns="0" rtlCol="0" anchor="ctr"/>
          <a:lstStyle/>
          <a:p>
            <a:pPr algn="r" indent="0" marL="0">
              <a:buNone/>
            </a:pPr>
            <a:r>
              <a:rPr lang="en-US" sz="2200" b="1" dirty="0">
                <a:solidFill>
                  <a:srgbClr val="0F766E"/>
                </a:solidFill>
                <a:latin typeface="Cambria" pitchFamily="34" charset="0"/>
                <a:ea typeface="Cambria" pitchFamily="34" charset="-122"/>
                <a:cs typeface="Cambria" pitchFamily="34" charset="-120"/>
              </a:rPr>
              <a:t>−0.0605</a:t>
            </a:r>
            <a:endParaRPr lang="en-US" sz="2200" dirty="0"/>
          </a:p>
        </p:txBody>
      </p:sp>
      <p:sp>
        <p:nvSpPr>
          <p:cNvPr id="18" name="Shape 15"/>
          <p:cNvSpPr/>
          <p:nvPr/>
        </p:nvSpPr>
        <p:spPr>
          <a:xfrm>
            <a:off x="7818120" y="4892040"/>
            <a:ext cx="3657600" cy="914400"/>
          </a:xfrm>
          <a:prstGeom prst="rect">
            <a:avLst/>
          </a:prstGeom>
          <a:solidFill>
            <a:srgbClr val="FFFFFF"/>
          </a:solidFill>
          <a:ln w="12700">
            <a:solidFill>
              <a:srgbClr val="E2E8F0"/>
            </a:solidFill>
            <a:prstDash val="solid"/>
          </a:ln>
        </p:spPr>
      </p:sp>
      <p:sp>
        <p:nvSpPr>
          <p:cNvPr id="19" name="Shape 16"/>
          <p:cNvSpPr/>
          <p:nvPr/>
        </p:nvSpPr>
        <p:spPr>
          <a:xfrm>
            <a:off x="7818120" y="4892040"/>
            <a:ext cx="54864" cy="914400"/>
          </a:xfrm>
          <a:prstGeom prst="rect">
            <a:avLst/>
          </a:prstGeom>
          <a:solidFill>
            <a:srgbClr val="0F766E"/>
          </a:solidFill>
          <a:ln w="12700">
            <a:solidFill>
              <a:srgbClr val="0F766E"/>
            </a:solidFill>
            <a:prstDash val="solid"/>
          </a:ln>
        </p:spPr>
      </p:sp>
      <p:sp>
        <p:nvSpPr>
          <p:cNvPr id="20" name="Text 17"/>
          <p:cNvSpPr/>
          <p:nvPr/>
        </p:nvSpPr>
        <p:spPr>
          <a:xfrm>
            <a:off x="7955280" y="4965192"/>
            <a:ext cx="228600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30s no context</a:t>
            </a:r>
            <a:endParaRPr lang="en-US" sz="1100" dirty="0"/>
          </a:p>
        </p:txBody>
      </p:sp>
      <p:sp>
        <p:nvSpPr>
          <p:cNvPr id="21" name="Text 18"/>
          <p:cNvSpPr/>
          <p:nvPr/>
        </p:nvSpPr>
        <p:spPr>
          <a:xfrm>
            <a:off x="7955280" y="5257800"/>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0.5621 → 0.5153</a:t>
            </a:r>
            <a:endParaRPr lang="en-US" sz="1000" dirty="0"/>
          </a:p>
        </p:txBody>
      </p:sp>
      <p:sp>
        <p:nvSpPr>
          <p:cNvPr id="22" name="Text 19"/>
          <p:cNvSpPr/>
          <p:nvPr/>
        </p:nvSpPr>
        <p:spPr>
          <a:xfrm>
            <a:off x="10287000" y="5029200"/>
            <a:ext cx="1143000" cy="640080"/>
          </a:xfrm>
          <a:prstGeom prst="rect">
            <a:avLst/>
          </a:prstGeom>
          <a:noFill/>
          <a:ln/>
        </p:spPr>
        <p:txBody>
          <a:bodyPr wrap="square" lIns="0" tIns="0" rIns="0" bIns="0" rtlCol="0" anchor="ctr"/>
          <a:lstStyle/>
          <a:p>
            <a:pPr algn="r" indent="0" marL="0">
              <a:buNone/>
            </a:pPr>
            <a:r>
              <a:rPr lang="en-US" sz="2200" b="1" dirty="0">
                <a:solidFill>
                  <a:srgbClr val="0F766E"/>
                </a:solidFill>
                <a:latin typeface="Cambria" pitchFamily="34" charset="0"/>
                <a:ea typeface="Cambria" pitchFamily="34" charset="-122"/>
                <a:cs typeface="Cambria" pitchFamily="34" charset="-120"/>
              </a:rPr>
              <a:t>−0.0468</a:t>
            </a:r>
            <a:endParaRPr lang="en-US" sz="2200" dirty="0"/>
          </a:p>
        </p:txBody>
      </p:sp>
      <p:sp>
        <p:nvSpPr>
          <p:cNvPr id="23" name="Shape 20"/>
          <p:cNvSpPr/>
          <p:nvPr/>
        </p:nvSpPr>
        <p:spPr>
          <a:xfrm>
            <a:off x="548640" y="6263640"/>
            <a:ext cx="11091672" cy="0"/>
          </a:xfrm>
          <a:prstGeom prst="rect">
            <a:avLst/>
          </a:prstGeom>
          <a:solidFill>
            <a:srgbClr val="FFFFFF"/>
          </a:solidFill>
          <a:ln w="12700">
            <a:solidFill>
              <a:srgbClr val="E2E8F0"/>
            </a:solidFill>
            <a:prstDash val="solid"/>
          </a:ln>
        </p:spPr>
      </p:sp>
      <p:sp>
        <p:nvSpPr>
          <p:cNvPr id="24" name="Text 21"/>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25" name="Text 22"/>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MODEL-LEVEL RESULTS</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Fine-tuning: more data helps; augmentation does not (yet)</a:t>
            </a:r>
            <a:endParaRPr lang="en-US" sz="3000" dirty="0"/>
          </a:p>
        </p:txBody>
      </p:sp>
      <p:sp>
        <p:nvSpPr>
          <p:cNvPr id="4" name="Shape 2"/>
          <p:cNvSpPr/>
          <p:nvPr/>
        </p:nvSpPr>
        <p:spPr>
          <a:xfrm>
            <a:off x="7315200" y="1783080"/>
            <a:ext cx="4325112" cy="1691640"/>
          </a:xfrm>
          <a:prstGeom prst="rect">
            <a:avLst/>
          </a:prstGeom>
          <a:solidFill>
            <a:srgbClr val="FFF7ED"/>
          </a:solidFill>
          <a:ln w="19050">
            <a:solidFill>
              <a:srgbClr val="F4A261"/>
            </a:solidFill>
            <a:prstDash val="solid"/>
          </a:ln>
        </p:spPr>
      </p:sp>
      <p:sp>
        <p:nvSpPr>
          <p:cNvPr id="5" name="Text 3"/>
          <p:cNvSpPr/>
          <p:nvPr/>
        </p:nvSpPr>
        <p:spPr>
          <a:xfrm>
            <a:off x="7498080" y="1920240"/>
            <a:ext cx="4023360" cy="274320"/>
          </a:xfrm>
          <a:prstGeom prst="rect">
            <a:avLst/>
          </a:prstGeom>
          <a:noFill/>
          <a:ln/>
        </p:spPr>
        <p:txBody>
          <a:bodyPr wrap="square" lIns="0" tIns="0" rIns="0" bIns="0" rtlCol="0" anchor="ctr"/>
          <a:lstStyle/>
          <a:p>
            <a:pPr indent="0" marL="0">
              <a:buNone/>
            </a:pPr>
            <a:r>
              <a:rPr lang="en-US" sz="1100" b="1" spc="400" kern="0" dirty="0">
                <a:solidFill>
                  <a:srgbClr val="F4A261"/>
                </a:solidFill>
                <a:latin typeface="Calibri" pitchFamily="34" charset="0"/>
                <a:ea typeface="Calibri" pitchFamily="34" charset="-122"/>
                <a:cs typeface="Calibri" pitchFamily="34" charset="-120"/>
              </a:rPr>
              <a:t>BEST MODEL-LEVEL RESULT</a:t>
            </a:r>
            <a:endParaRPr lang="en-US" sz="1100" dirty="0"/>
          </a:p>
        </p:txBody>
      </p:sp>
      <p:sp>
        <p:nvSpPr>
          <p:cNvPr id="6" name="Text 4"/>
          <p:cNvSpPr/>
          <p:nvPr/>
        </p:nvSpPr>
        <p:spPr>
          <a:xfrm>
            <a:off x="7498080" y="2240280"/>
            <a:ext cx="4023360" cy="411480"/>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E5 — Larger fine-tune (150)</a:t>
            </a:r>
            <a:endParaRPr lang="en-US" sz="1700" dirty="0"/>
          </a:p>
        </p:txBody>
      </p:sp>
      <p:sp>
        <p:nvSpPr>
          <p:cNvPr id="7" name="Text 5"/>
          <p:cNvSpPr/>
          <p:nvPr/>
        </p:nvSpPr>
        <p:spPr>
          <a:xfrm>
            <a:off x="7498080" y="2743200"/>
            <a:ext cx="4023360" cy="4114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Normalized WER  </a:t>
            </a:r>
            <a:pPr indent="0" marL="0">
              <a:buNone/>
            </a:pPr>
            <a:r>
              <a:rPr lang="en-US" sz="2200" b="1" dirty="0">
                <a:solidFill>
                  <a:srgbClr val="065A82"/>
                </a:solidFill>
                <a:latin typeface="Calibri" pitchFamily="34" charset="0"/>
                <a:ea typeface="Calibri" pitchFamily="34" charset="-122"/>
                <a:cs typeface="Calibri" pitchFamily="34" charset="-120"/>
              </a:rPr>
              <a:t>0.2508</a:t>
            </a:r>
            <a:pPr indent="0" marL="0">
              <a:buNone/>
            </a:pPr>
            <a:r>
              <a:rPr lang="en-US" sz="1100" b="1" dirty="0">
                <a:solidFill>
                  <a:srgbClr val="0F766E"/>
                </a:solidFill>
                <a:latin typeface="Calibri" pitchFamily="34" charset="0"/>
                <a:ea typeface="Calibri" pitchFamily="34" charset="-122"/>
                <a:cs typeface="Calibri" pitchFamily="34" charset="-120"/>
              </a:rPr>
              <a:t>  ↓ from 0.2671</a:t>
            </a:r>
            <a:endParaRPr lang="en-US" sz="1100" dirty="0"/>
          </a:p>
        </p:txBody>
      </p:sp>
      <p:sp>
        <p:nvSpPr>
          <p:cNvPr id="8" name="Text 6"/>
          <p:cNvSpPr/>
          <p:nvPr/>
        </p:nvSpPr>
        <p:spPr>
          <a:xfrm>
            <a:off x="7498080" y="3108960"/>
            <a:ext cx="402336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Normalized CER  </a:t>
            </a:r>
            <a:pPr indent="0" marL="0">
              <a:buNone/>
            </a:pPr>
            <a:r>
              <a:rPr lang="en-US" sz="1600" b="1" dirty="0">
                <a:solidFill>
                  <a:srgbClr val="065A82"/>
                </a:solidFill>
                <a:latin typeface="Calibri" pitchFamily="34" charset="0"/>
                <a:ea typeface="Calibri" pitchFamily="34" charset="-122"/>
                <a:cs typeface="Calibri" pitchFamily="34" charset="-120"/>
              </a:rPr>
              <a:t>0.0618</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91672" cy="914400"/>
        </p:xfrm>
        <a:graphic>
          <a:graphicData uri="http://schemas.openxmlformats.org/drawingml/2006/table">
            <a:tbl>
              <a:tblPr/>
              <a:tblGrid>
                <a:gridCol w="3657600"/>
                <a:gridCol w="914400"/>
                <a:gridCol w="914400"/>
                <a:gridCol w="1325880"/>
                <a:gridCol w="1325880"/>
                <a:gridCol w="1463040"/>
                <a:gridCol w="1490472"/>
              </a:tblGrid>
              <a:tr h="5029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Experiment</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Train</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Eval Loss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Raw WER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Norm. WER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Norm. CER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50292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E4 — Small fine-tune</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2.0174</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0.2899</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0.2671</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0.0675</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065A82"/>
                          </a:solidFill>
                          <a:latin typeface="Calibri" pitchFamily="34" charset="0"/>
                          <a:ea typeface="Calibri" pitchFamily="34" charset="-122"/>
                          <a:cs typeface="Calibri" pitchFamily="34" charset="-120"/>
                        </a:rPr>
                        <a:t>★ E5 — Larger fine-tune</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766E"/>
                          </a:solidFill>
                          <a:latin typeface="Calibri" pitchFamily="34" charset="0"/>
                          <a:ea typeface="Calibri" pitchFamily="34" charset="-122"/>
                          <a:cs typeface="Calibri" pitchFamily="34" charset="-120"/>
                        </a:rPr>
                        <a:t>1.6712</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0.2769</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766E"/>
                          </a:solidFill>
                          <a:latin typeface="Calibri" pitchFamily="34" charset="0"/>
                          <a:ea typeface="Calibri" pitchFamily="34" charset="-122"/>
                          <a:cs typeface="Calibri" pitchFamily="34" charset="-120"/>
                        </a:rPr>
                        <a:t>0.2508</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algn="ctr" indent="0" marL="0">
                        <a:buNone/>
                      </a:pPr>
                      <a:r>
                        <a:rPr lang="en-US" sz="1100" b="1" dirty="0">
                          <a:solidFill>
                            <a:srgbClr val="0F766E"/>
                          </a:solidFill>
                          <a:latin typeface="Calibri" pitchFamily="34" charset="0"/>
                          <a:ea typeface="Calibri" pitchFamily="34" charset="-122"/>
                          <a:cs typeface="Calibri" pitchFamily="34" charset="-120"/>
                        </a:rPr>
                        <a:t>0.0618</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r>
              <a:tr h="50292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E6 — Larger + augmentation</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1.6823</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0.2769</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0.2508</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0F172A"/>
                          </a:solidFill>
                          <a:latin typeface="Calibri" pitchFamily="34" charset="0"/>
                          <a:ea typeface="Calibri" pitchFamily="34" charset="-122"/>
                          <a:cs typeface="Calibri" pitchFamily="34" charset="-120"/>
                        </a:rPr>
                        <a:t>0.0618</a:t>
                      </a:r>
                      <a:endParaRPr lang="en-US" sz="1100" dirty="0">
                        <a:latin typeface="Calibri" charset="0"/>
                        <a:ea typeface="Calibri" charset="0"/>
                        <a:cs typeface="Calibri" charset="0"/>
                      </a:endParaRPr>
                    </a:p>
                  </a:txBody>
                  <a:tcPr marL="73152" marR="73152" marT="73152" marB="7315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bl>
          </a:graphicData>
        </a:graphic>
      </p:graphicFrame>
      <p:sp>
        <p:nvSpPr>
          <p:cNvPr id="10" name="Shape 7"/>
          <p:cNvSpPr/>
          <p:nvPr/>
        </p:nvSpPr>
        <p:spPr>
          <a:xfrm>
            <a:off x="548640" y="5760720"/>
            <a:ext cx="11091672" cy="640080"/>
          </a:xfrm>
          <a:prstGeom prst="rect">
            <a:avLst/>
          </a:prstGeom>
          <a:solidFill>
            <a:srgbClr val="F4F7FB"/>
          </a:solidFill>
          <a:ln w="12700">
            <a:solidFill>
              <a:srgbClr val="E2E8F0"/>
            </a:solidFill>
            <a:prstDash val="solid"/>
          </a:ln>
        </p:spPr>
      </p:sp>
      <p:sp>
        <p:nvSpPr>
          <p:cNvPr id="11" name="Text 8"/>
          <p:cNvSpPr/>
          <p:nvPr/>
        </p:nvSpPr>
        <p:spPr>
          <a:xfrm>
            <a:off x="777240" y="5806440"/>
            <a:ext cx="10698480" cy="548640"/>
          </a:xfrm>
          <a:prstGeom prst="rect">
            <a:avLst/>
          </a:prstGeom>
          <a:noFill/>
          <a:ln/>
        </p:spPr>
        <p:txBody>
          <a:bodyPr wrap="square" lIns="0" tIns="0" rIns="0" bIns="0" rtlCol="0" anchor="ctr"/>
          <a:lstStyle/>
          <a:p>
            <a:pPr indent="0" marL="0">
              <a:buNone/>
            </a:pPr>
            <a:r>
              <a:rPr lang="en-US" sz="1000" b="1" spc="400" kern="0" dirty="0">
                <a:solidFill>
                  <a:srgbClr val="F4A261"/>
                </a:solidFill>
                <a:latin typeface="Calibri" pitchFamily="34" charset="0"/>
                <a:ea typeface="Calibri" pitchFamily="34" charset="-122"/>
                <a:cs typeface="Calibri" pitchFamily="34" charset="-120"/>
              </a:rPr>
              <a:t>INSIGHT  </a:t>
            </a:r>
            <a:pPr indent="0" marL="0">
              <a:buNone/>
            </a:pPr>
            <a:r>
              <a:rPr lang="en-US" sz="1200" dirty="0">
                <a:solidFill>
                  <a:srgbClr val="0F172A"/>
                </a:solidFill>
                <a:latin typeface="Calibri" pitchFamily="34" charset="0"/>
                <a:ea typeface="Calibri" pitchFamily="34" charset="-122"/>
                <a:cs typeface="Calibri" pitchFamily="34" charset="-120"/>
              </a:rPr>
              <a:t>Tripling training data (50 → 150) improved norm. WER by 0.0163. Augmentation gave no measurable lift at this scale.</a:t>
            </a:r>
            <a:endParaRPr lang="en-US" sz="1000" dirty="0"/>
          </a:p>
        </p:txBody>
      </p:sp>
      <p:sp>
        <p:nvSpPr>
          <p:cNvPr id="12" name="Text 9"/>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13" name="Text 10"/>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1C7293"/>
                </a:solidFill>
                <a:latin typeface="Calibri" pitchFamily="34" charset="0"/>
                <a:ea typeface="Calibri" pitchFamily="34" charset="-122"/>
                <a:cs typeface="Calibri" pitchFamily="34" charset="-120"/>
              </a:rPr>
              <a:t>KEY FINDINGS</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What worked, what didn't, what we now know</a:t>
            </a:r>
            <a:endParaRPr lang="en-US" sz="3000" dirty="0"/>
          </a:p>
        </p:txBody>
      </p:sp>
      <p:sp>
        <p:nvSpPr>
          <p:cNvPr id="4" name="Shape 2"/>
          <p:cNvSpPr/>
          <p:nvPr/>
        </p:nvSpPr>
        <p:spPr>
          <a:xfrm>
            <a:off x="548640" y="1783080"/>
            <a:ext cx="2697480" cy="2103120"/>
          </a:xfrm>
          <a:prstGeom prst="rect">
            <a:avLst/>
          </a:prstGeom>
          <a:solidFill>
            <a:srgbClr val="F0FDF4"/>
          </a:solidFill>
          <a:ln w="12700">
            <a:solidFill>
              <a:srgbClr val="0F766E"/>
            </a:solidFill>
            <a:prstDash val="solid"/>
          </a:ln>
        </p:spPr>
      </p:sp>
      <p:sp>
        <p:nvSpPr>
          <p:cNvPr id="5" name="Shape 3"/>
          <p:cNvSpPr/>
          <p:nvPr/>
        </p:nvSpPr>
        <p:spPr>
          <a:xfrm>
            <a:off x="548640" y="1783080"/>
            <a:ext cx="2697480" cy="45720"/>
          </a:xfrm>
          <a:prstGeom prst="rect">
            <a:avLst/>
          </a:prstGeom>
          <a:solidFill>
            <a:srgbClr val="0F766E"/>
          </a:solidFill>
          <a:ln w="12700">
            <a:solidFill>
              <a:srgbClr val="0F766E"/>
            </a:solidFill>
            <a:prstDash val="solid"/>
          </a:ln>
        </p:spPr>
      </p:sp>
      <p:sp>
        <p:nvSpPr>
          <p:cNvPr id="6" name="Text 4"/>
          <p:cNvSpPr/>
          <p:nvPr/>
        </p:nvSpPr>
        <p:spPr>
          <a:xfrm>
            <a:off x="731520" y="1965960"/>
            <a:ext cx="2331720" cy="274320"/>
          </a:xfrm>
          <a:prstGeom prst="rect">
            <a:avLst/>
          </a:prstGeom>
          <a:noFill/>
          <a:ln/>
        </p:spPr>
        <p:txBody>
          <a:bodyPr wrap="square" lIns="0" tIns="0" rIns="0" bIns="0" rtlCol="0" anchor="ctr"/>
          <a:lstStyle/>
          <a:p>
            <a:pPr indent="0" marL="0">
              <a:buNone/>
            </a:pPr>
            <a:r>
              <a:rPr lang="en-US" sz="900" b="1" spc="500" kern="0" dirty="0">
                <a:solidFill>
                  <a:srgbClr val="0F766E"/>
                </a:solidFill>
                <a:latin typeface="Calibri" pitchFamily="34" charset="0"/>
                <a:ea typeface="Calibri" pitchFamily="34" charset="-122"/>
                <a:cs typeface="Calibri" pitchFamily="34" charset="-120"/>
              </a:rPr>
              <a:t>WORKS</a:t>
            </a:r>
            <a:endParaRPr lang="en-US" sz="900" dirty="0"/>
          </a:p>
        </p:txBody>
      </p:sp>
      <p:sp>
        <p:nvSpPr>
          <p:cNvPr id="7" name="Text 5"/>
          <p:cNvSpPr/>
          <p:nvPr/>
        </p:nvSpPr>
        <p:spPr>
          <a:xfrm>
            <a:off x="731520" y="2286000"/>
            <a:ext cx="2331720" cy="7772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30+ minute Arabic audio, end-to-end</a:t>
            </a:r>
            <a:endParaRPr lang="en-US" sz="1300" dirty="0"/>
          </a:p>
        </p:txBody>
      </p:sp>
      <p:sp>
        <p:nvSpPr>
          <p:cNvPr id="8" name="Text 6"/>
          <p:cNvSpPr/>
          <p:nvPr/>
        </p:nvSpPr>
        <p:spPr>
          <a:xfrm>
            <a:off x="731520" y="3063240"/>
            <a:ext cx="2331720" cy="7772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The pipeline successfully handled a 1,804s test with reproducible WER/CER.</a:t>
            </a:r>
            <a:endParaRPr lang="en-US" sz="1000" dirty="0"/>
          </a:p>
        </p:txBody>
      </p:sp>
      <p:sp>
        <p:nvSpPr>
          <p:cNvPr id="9" name="Shape 7"/>
          <p:cNvSpPr/>
          <p:nvPr/>
        </p:nvSpPr>
        <p:spPr>
          <a:xfrm>
            <a:off x="3337560" y="1783080"/>
            <a:ext cx="2697480" cy="2103120"/>
          </a:xfrm>
          <a:prstGeom prst="rect">
            <a:avLst/>
          </a:prstGeom>
          <a:solidFill>
            <a:srgbClr val="F0FDF4"/>
          </a:solidFill>
          <a:ln w="12700">
            <a:solidFill>
              <a:srgbClr val="0F766E"/>
            </a:solidFill>
            <a:prstDash val="solid"/>
          </a:ln>
        </p:spPr>
      </p:sp>
      <p:sp>
        <p:nvSpPr>
          <p:cNvPr id="10" name="Shape 8"/>
          <p:cNvSpPr/>
          <p:nvPr/>
        </p:nvSpPr>
        <p:spPr>
          <a:xfrm>
            <a:off x="3337560" y="1783080"/>
            <a:ext cx="2697480" cy="45720"/>
          </a:xfrm>
          <a:prstGeom prst="rect">
            <a:avLst/>
          </a:prstGeom>
          <a:solidFill>
            <a:srgbClr val="0F766E"/>
          </a:solidFill>
          <a:ln w="12700">
            <a:solidFill>
              <a:srgbClr val="0F766E"/>
            </a:solidFill>
            <a:prstDash val="solid"/>
          </a:ln>
        </p:spPr>
      </p:sp>
      <p:sp>
        <p:nvSpPr>
          <p:cNvPr id="11" name="Text 9"/>
          <p:cNvSpPr/>
          <p:nvPr/>
        </p:nvSpPr>
        <p:spPr>
          <a:xfrm>
            <a:off x="3520440" y="1965960"/>
            <a:ext cx="2331720" cy="274320"/>
          </a:xfrm>
          <a:prstGeom prst="rect">
            <a:avLst/>
          </a:prstGeom>
          <a:noFill/>
          <a:ln/>
        </p:spPr>
        <p:txBody>
          <a:bodyPr wrap="square" lIns="0" tIns="0" rIns="0" bIns="0" rtlCol="0" anchor="ctr"/>
          <a:lstStyle/>
          <a:p>
            <a:pPr indent="0" marL="0">
              <a:buNone/>
            </a:pPr>
            <a:r>
              <a:rPr lang="en-US" sz="900" b="1" spc="500" kern="0" dirty="0">
                <a:solidFill>
                  <a:srgbClr val="0F766E"/>
                </a:solidFill>
                <a:latin typeface="Calibri" pitchFamily="34" charset="0"/>
                <a:ea typeface="Calibri" pitchFamily="34" charset="-122"/>
                <a:cs typeface="Calibri" pitchFamily="34" charset="-120"/>
              </a:rPr>
              <a:t>WORKS</a:t>
            </a:r>
            <a:endParaRPr lang="en-US" sz="900" dirty="0"/>
          </a:p>
        </p:txBody>
      </p:sp>
      <p:sp>
        <p:nvSpPr>
          <p:cNvPr id="12" name="Text 10"/>
          <p:cNvSpPr/>
          <p:nvPr/>
        </p:nvSpPr>
        <p:spPr>
          <a:xfrm>
            <a:off x="3520440" y="2286000"/>
            <a:ext cx="2331720" cy="7772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60s chunks · 2s overlap · no context</a:t>
            </a:r>
            <a:endParaRPr lang="en-US" sz="1300" dirty="0"/>
          </a:p>
        </p:txBody>
      </p:sp>
      <p:sp>
        <p:nvSpPr>
          <p:cNvPr id="13" name="Text 11"/>
          <p:cNvSpPr/>
          <p:nvPr/>
        </p:nvSpPr>
        <p:spPr>
          <a:xfrm>
            <a:off x="3520440" y="3063240"/>
            <a:ext cx="2331720" cy="7772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Best long-form configuration. Norm. WER 0.4926, Norm. CER 0.2069.</a:t>
            </a:r>
            <a:endParaRPr lang="en-US" sz="1000" dirty="0"/>
          </a:p>
        </p:txBody>
      </p:sp>
      <p:sp>
        <p:nvSpPr>
          <p:cNvPr id="14" name="Shape 12"/>
          <p:cNvSpPr/>
          <p:nvPr/>
        </p:nvSpPr>
        <p:spPr>
          <a:xfrm>
            <a:off x="6126480" y="1783080"/>
            <a:ext cx="2697480" cy="2103120"/>
          </a:xfrm>
          <a:prstGeom prst="rect">
            <a:avLst/>
          </a:prstGeom>
          <a:solidFill>
            <a:srgbClr val="FFFBEB"/>
          </a:solidFill>
          <a:ln w="12700">
            <a:solidFill>
              <a:srgbClr val="B45309"/>
            </a:solidFill>
            <a:prstDash val="solid"/>
          </a:ln>
        </p:spPr>
      </p:sp>
      <p:sp>
        <p:nvSpPr>
          <p:cNvPr id="15" name="Shape 13"/>
          <p:cNvSpPr/>
          <p:nvPr/>
        </p:nvSpPr>
        <p:spPr>
          <a:xfrm>
            <a:off x="6126480" y="1783080"/>
            <a:ext cx="2697480" cy="45720"/>
          </a:xfrm>
          <a:prstGeom prst="rect">
            <a:avLst/>
          </a:prstGeom>
          <a:solidFill>
            <a:srgbClr val="B45309"/>
          </a:solidFill>
          <a:ln w="12700">
            <a:solidFill>
              <a:srgbClr val="B45309"/>
            </a:solidFill>
            <a:prstDash val="solid"/>
          </a:ln>
        </p:spPr>
      </p:sp>
      <p:sp>
        <p:nvSpPr>
          <p:cNvPr id="16" name="Text 14"/>
          <p:cNvSpPr/>
          <p:nvPr/>
        </p:nvSpPr>
        <p:spPr>
          <a:xfrm>
            <a:off x="6309360" y="1965960"/>
            <a:ext cx="2331720" cy="274320"/>
          </a:xfrm>
          <a:prstGeom prst="rect">
            <a:avLst/>
          </a:prstGeom>
          <a:noFill/>
          <a:ln/>
        </p:spPr>
        <p:txBody>
          <a:bodyPr wrap="square" lIns="0" tIns="0" rIns="0" bIns="0" rtlCol="0" anchor="ctr"/>
          <a:lstStyle/>
          <a:p>
            <a:pPr indent="0" marL="0">
              <a:buNone/>
            </a:pPr>
            <a:r>
              <a:rPr lang="en-US" sz="900" b="1" spc="500" kern="0" dirty="0">
                <a:solidFill>
                  <a:srgbClr val="B45309"/>
                </a:solidFill>
                <a:latin typeface="Calibri" pitchFamily="34" charset="0"/>
                <a:ea typeface="Calibri" pitchFamily="34" charset="-122"/>
                <a:cs typeface="Calibri" pitchFamily="34" charset="-120"/>
              </a:rPr>
              <a:t>DIDN'T</a:t>
            </a:r>
            <a:endParaRPr lang="en-US" sz="900" dirty="0"/>
          </a:p>
        </p:txBody>
      </p:sp>
      <p:sp>
        <p:nvSpPr>
          <p:cNvPr id="17" name="Text 15"/>
          <p:cNvSpPr/>
          <p:nvPr/>
        </p:nvSpPr>
        <p:spPr>
          <a:xfrm>
            <a:off x="6309360" y="2286000"/>
            <a:ext cx="2331720" cy="7772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Context prompting did not help</a:t>
            </a:r>
            <a:endParaRPr lang="en-US" sz="1300" dirty="0"/>
          </a:p>
        </p:txBody>
      </p:sp>
      <p:sp>
        <p:nvSpPr>
          <p:cNvPr id="18" name="Text 16"/>
          <p:cNvSpPr/>
          <p:nvPr/>
        </p:nvSpPr>
        <p:spPr>
          <a:xfrm>
            <a:off x="6309360" y="3063240"/>
            <a:ext cx="2331720" cy="7772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Likely error propagation: bad words in prompt biased the next chunk's decoding.</a:t>
            </a:r>
            <a:endParaRPr lang="en-US" sz="1000" dirty="0"/>
          </a:p>
        </p:txBody>
      </p:sp>
      <p:sp>
        <p:nvSpPr>
          <p:cNvPr id="19" name="Shape 17"/>
          <p:cNvSpPr/>
          <p:nvPr/>
        </p:nvSpPr>
        <p:spPr>
          <a:xfrm>
            <a:off x="8915400" y="1783080"/>
            <a:ext cx="2697480" cy="2103120"/>
          </a:xfrm>
          <a:prstGeom prst="rect">
            <a:avLst/>
          </a:prstGeom>
          <a:solidFill>
            <a:srgbClr val="F0FDF4"/>
          </a:solidFill>
          <a:ln w="12700">
            <a:solidFill>
              <a:srgbClr val="0F766E"/>
            </a:solidFill>
            <a:prstDash val="solid"/>
          </a:ln>
        </p:spPr>
      </p:sp>
      <p:sp>
        <p:nvSpPr>
          <p:cNvPr id="20" name="Shape 18"/>
          <p:cNvSpPr/>
          <p:nvPr/>
        </p:nvSpPr>
        <p:spPr>
          <a:xfrm>
            <a:off x="8915400" y="1783080"/>
            <a:ext cx="2697480" cy="45720"/>
          </a:xfrm>
          <a:prstGeom prst="rect">
            <a:avLst/>
          </a:prstGeom>
          <a:solidFill>
            <a:srgbClr val="0F766E"/>
          </a:solidFill>
          <a:ln w="12700">
            <a:solidFill>
              <a:srgbClr val="0F766E"/>
            </a:solidFill>
            <a:prstDash val="solid"/>
          </a:ln>
        </p:spPr>
      </p:sp>
      <p:sp>
        <p:nvSpPr>
          <p:cNvPr id="21" name="Text 19"/>
          <p:cNvSpPr/>
          <p:nvPr/>
        </p:nvSpPr>
        <p:spPr>
          <a:xfrm>
            <a:off x="9098280" y="1965960"/>
            <a:ext cx="2331720" cy="274320"/>
          </a:xfrm>
          <a:prstGeom prst="rect">
            <a:avLst/>
          </a:prstGeom>
          <a:noFill/>
          <a:ln/>
        </p:spPr>
        <p:txBody>
          <a:bodyPr wrap="square" lIns="0" tIns="0" rIns="0" bIns="0" rtlCol="0" anchor="ctr"/>
          <a:lstStyle/>
          <a:p>
            <a:pPr indent="0" marL="0">
              <a:buNone/>
            </a:pPr>
            <a:r>
              <a:rPr lang="en-US" sz="900" b="1" spc="500" kern="0" dirty="0">
                <a:solidFill>
                  <a:srgbClr val="0F766E"/>
                </a:solidFill>
                <a:latin typeface="Calibri" pitchFamily="34" charset="0"/>
                <a:ea typeface="Calibri" pitchFamily="34" charset="-122"/>
                <a:cs typeface="Calibri" pitchFamily="34" charset="-120"/>
              </a:rPr>
              <a:t>WORKS</a:t>
            </a:r>
            <a:endParaRPr lang="en-US" sz="900" dirty="0"/>
          </a:p>
        </p:txBody>
      </p:sp>
      <p:sp>
        <p:nvSpPr>
          <p:cNvPr id="22" name="Text 20"/>
          <p:cNvSpPr/>
          <p:nvPr/>
        </p:nvSpPr>
        <p:spPr>
          <a:xfrm>
            <a:off x="9098280" y="2286000"/>
            <a:ext cx="2331720" cy="7772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Arabic normalization always reduces WER</a:t>
            </a:r>
            <a:endParaRPr lang="en-US" sz="1300" dirty="0"/>
          </a:p>
        </p:txBody>
      </p:sp>
      <p:sp>
        <p:nvSpPr>
          <p:cNvPr id="23" name="Text 21"/>
          <p:cNvSpPr/>
          <p:nvPr/>
        </p:nvSpPr>
        <p:spPr>
          <a:xfrm>
            <a:off x="9098280" y="3063240"/>
            <a:ext cx="2331720" cy="7772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Drop of 0.0468–0.0605 across every system. Essential for fair Arabic ASR scoring.</a:t>
            </a:r>
            <a:endParaRPr lang="en-US" sz="1000" dirty="0"/>
          </a:p>
        </p:txBody>
      </p:sp>
      <p:sp>
        <p:nvSpPr>
          <p:cNvPr id="24" name="Shape 22"/>
          <p:cNvSpPr/>
          <p:nvPr/>
        </p:nvSpPr>
        <p:spPr>
          <a:xfrm>
            <a:off x="548640" y="4023360"/>
            <a:ext cx="2697480" cy="2103120"/>
          </a:xfrm>
          <a:prstGeom prst="rect">
            <a:avLst/>
          </a:prstGeom>
          <a:solidFill>
            <a:srgbClr val="F0FDF4"/>
          </a:solidFill>
          <a:ln w="12700">
            <a:solidFill>
              <a:srgbClr val="0F766E"/>
            </a:solidFill>
            <a:prstDash val="solid"/>
          </a:ln>
        </p:spPr>
      </p:sp>
      <p:sp>
        <p:nvSpPr>
          <p:cNvPr id="25" name="Shape 23"/>
          <p:cNvSpPr/>
          <p:nvPr/>
        </p:nvSpPr>
        <p:spPr>
          <a:xfrm>
            <a:off x="548640" y="4023360"/>
            <a:ext cx="2697480" cy="45720"/>
          </a:xfrm>
          <a:prstGeom prst="rect">
            <a:avLst/>
          </a:prstGeom>
          <a:solidFill>
            <a:srgbClr val="0F766E"/>
          </a:solidFill>
          <a:ln w="12700">
            <a:solidFill>
              <a:srgbClr val="0F766E"/>
            </a:solidFill>
            <a:prstDash val="solid"/>
          </a:ln>
        </p:spPr>
      </p:sp>
      <p:sp>
        <p:nvSpPr>
          <p:cNvPr id="26" name="Text 24"/>
          <p:cNvSpPr/>
          <p:nvPr/>
        </p:nvSpPr>
        <p:spPr>
          <a:xfrm>
            <a:off x="731520" y="4206240"/>
            <a:ext cx="2331720" cy="274320"/>
          </a:xfrm>
          <a:prstGeom prst="rect">
            <a:avLst/>
          </a:prstGeom>
          <a:noFill/>
          <a:ln/>
        </p:spPr>
        <p:txBody>
          <a:bodyPr wrap="square" lIns="0" tIns="0" rIns="0" bIns="0" rtlCol="0" anchor="ctr"/>
          <a:lstStyle/>
          <a:p>
            <a:pPr indent="0" marL="0">
              <a:buNone/>
            </a:pPr>
            <a:r>
              <a:rPr lang="en-US" sz="900" b="1" spc="500" kern="0" dirty="0">
                <a:solidFill>
                  <a:srgbClr val="0F766E"/>
                </a:solidFill>
                <a:latin typeface="Calibri" pitchFamily="34" charset="0"/>
                <a:ea typeface="Calibri" pitchFamily="34" charset="-122"/>
                <a:cs typeface="Calibri" pitchFamily="34" charset="-120"/>
              </a:rPr>
              <a:t>WORKS</a:t>
            </a:r>
            <a:endParaRPr lang="en-US" sz="900" dirty="0"/>
          </a:p>
        </p:txBody>
      </p:sp>
      <p:sp>
        <p:nvSpPr>
          <p:cNvPr id="27" name="Text 25"/>
          <p:cNvSpPr/>
          <p:nvPr/>
        </p:nvSpPr>
        <p:spPr>
          <a:xfrm>
            <a:off x="731520" y="4526280"/>
            <a:ext cx="2331720" cy="7772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Fine-tuning improves model-level ASR</a:t>
            </a:r>
            <a:endParaRPr lang="en-US" sz="1300" dirty="0"/>
          </a:p>
        </p:txBody>
      </p:sp>
      <p:sp>
        <p:nvSpPr>
          <p:cNvPr id="28" name="Text 26"/>
          <p:cNvSpPr/>
          <p:nvPr/>
        </p:nvSpPr>
        <p:spPr>
          <a:xfrm>
            <a:off x="731520" y="5303520"/>
            <a:ext cx="2331720" cy="7772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Best norm. WER 0.2508 on held-out FLEURS samples (E5).</a:t>
            </a:r>
            <a:endParaRPr lang="en-US" sz="1000" dirty="0"/>
          </a:p>
        </p:txBody>
      </p:sp>
      <p:sp>
        <p:nvSpPr>
          <p:cNvPr id="29" name="Shape 27"/>
          <p:cNvSpPr/>
          <p:nvPr/>
        </p:nvSpPr>
        <p:spPr>
          <a:xfrm>
            <a:off x="3337560" y="4023360"/>
            <a:ext cx="2697480" cy="2103120"/>
          </a:xfrm>
          <a:prstGeom prst="rect">
            <a:avLst/>
          </a:prstGeom>
          <a:solidFill>
            <a:srgbClr val="F0FDF4"/>
          </a:solidFill>
          <a:ln w="12700">
            <a:solidFill>
              <a:srgbClr val="0F766E"/>
            </a:solidFill>
            <a:prstDash val="solid"/>
          </a:ln>
        </p:spPr>
      </p:sp>
      <p:sp>
        <p:nvSpPr>
          <p:cNvPr id="30" name="Shape 28"/>
          <p:cNvSpPr/>
          <p:nvPr/>
        </p:nvSpPr>
        <p:spPr>
          <a:xfrm>
            <a:off x="3337560" y="4023360"/>
            <a:ext cx="2697480" cy="45720"/>
          </a:xfrm>
          <a:prstGeom prst="rect">
            <a:avLst/>
          </a:prstGeom>
          <a:solidFill>
            <a:srgbClr val="0F766E"/>
          </a:solidFill>
          <a:ln w="12700">
            <a:solidFill>
              <a:srgbClr val="0F766E"/>
            </a:solidFill>
            <a:prstDash val="solid"/>
          </a:ln>
        </p:spPr>
      </p:sp>
      <p:sp>
        <p:nvSpPr>
          <p:cNvPr id="31" name="Text 29"/>
          <p:cNvSpPr/>
          <p:nvPr/>
        </p:nvSpPr>
        <p:spPr>
          <a:xfrm>
            <a:off x="3520440" y="4206240"/>
            <a:ext cx="2331720" cy="274320"/>
          </a:xfrm>
          <a:prstGeom prst="rect">
            <a:avLst/>
          </a:prstGeom>
          <a:noFill/>
          <a:ln/>
        </p:spPr>
        <p:txBody>
          <a:bodyPr wrap="square" lIns="0" tIns="0" rIns="0" bIns="0" rtlCol="0" anchor="ctr"/>
          <a:lstStyle/>
          <a:p>
            <a:pPr indent="0" marL="0">
              <a:buNone/>
            </a:pPr>
            <a:r>
              <a:rPr lang="en-US" sz="900" b="1" spc="500" kern="0" dirty="0">
                <a:solidFill>
                  <a:srgbClr val="0F766E"/>
                </a:solidFill>
                <a:latin typeface="Calibri" pitchFamily="34" charset="0"/>
                <a:ea typeface="Calibri" pitchFamily="34" charset="-122"/>
                <a:cs typeface="Calibri" pitchFamily="34" charset="-120"/>
              </a:rPr>
              <a:t>WORKS</a:t>
            </a:r>
            <a:endParaRPr lang="en-US" sz="900" dirty="0"/>
          </a:p>
        </p:txBody>
      </p:sp>
      <p:sp>
        <p:nvSpPr>
          <p:cNvPr id="32" name="Text 30"/>
          <p:cNvSpPr/>
          <p:nvPr/>
        </p:nvSpPr>
        <p:spPr>
          <a:xfrm>
            <a:off x="3520440" y="4526280"/>
            <a:ext cx="2331720" cy="7772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More training data improved over less</a:t>
            </a:r>
            <a:endParaRPr lang="en-US" sz="1300" dirty="0"/>
          </a:p>
        </p:txBody>
      </p:sp>
      <p:sp>
        <p:nvSpPr>
          <p:cNvPr id="33" name="Text 31"/>
          <p:cNvSpPr/>
          <p:nvPr/>
        </p:nvSpPr>
        <p:spPr>
          <a:xfrm>
            <a:off x="3520440" y="5303520"/>
            <a:ext cx="2331720" cy="7772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Norm. WER 0.2671 → 0.2508 going from 50 → 150 samples.</a:t>
            </a:r>
            <a:endParaRPr lang="en-US" sz="1000" dirty="0"/>
          </a:p>
        </p:txBody>
      </p:sp>
      <p:sp>
        <p:nvSpPr>
          <p:cNvPr id="34" name="Shape 32"/>
          <p:cNvSpPr/>
          <p:nvPr/>
        </p:nvSpPr>
        <p:spPr>
          <a:xfrm>
            <a:off x="6126480" y="4023360"/>
            <a:ext cx="2697480" cy="2103120"/>
          </a:xfrm>
          <a:prstGeom prst="rect">
            <a:avLst/>
          </a:prstGeom>
          <a:solidFill>
            <a:srgbClr val="FFFBEB"/>
          </a:solidFill>
          <a:ln w="12700">
            <a:solidFill>
              <a:srgbClr val="B45309"/>
            </a:solidFill>
            <a:prstDash val="solid"/>
          </a:ln>
        </p:spPr>
      </p:sp>
      <p:sp>
        <p:nvSpPr>
          <p:cNvPr id="35" name="Shape 33"/>
          <p:cNvSpPr/>
          <p:nvPr/>
        </p:nvSpPr>
        <p:spPr>
          <a:xfrm>
            <a:off x="6126480" y="4023360"/>
            <a:ext cx="2697480" cy="45720"/>
          </a:xfrm>
          <a:prstGeom prst="rect">
            <a:avLst/>
          </a:prstGeom>
          <a:solidFill>
            <a:srgbClr val="B45309"/>
          </a:solidFill>
          <a:ln w="12700">
            <a:solidFill>
              <a:srgbClr val="B45309"/>
            </a:solidFill>
            <a:prstDash val="solid"/>
          </a:ln>
        </p:spPr>
      </p:sp>
      <p:sp>
        <p:nvSpPr>
          <p:cNvPr id="36" name="Text 34"/>
          <p:cNvSpPr/>
          <p:nvPr/>
        </p:nvSpPr>
        <p:spPr>
          <a:xfrm>
            <a:off x="6309360" y="4206240"/>
            <a:ext cx="2331720" cy="274320"/>
          </a:xfrm>
          <a:prstGeom prst="rect">
            <a:avLst/>
          </a:prstGeom>
          <a:noFill/>
          <a:ln/>
        </p:spPr>
        <p:txBody>
          <a:bodyPr wrap="square" lIns="0" tIns="0" rIns="0" bIns="0" rtlCol="0" anchor="ctr"/>
          <a:lstStyle/>
          <a:p>
            <a:pPr indent="0" marL="0">
              <a:buNone/>
            </a:pPr>
            <a:r>
              <a:rPr lang="en-US" sz="900" b="1" spc="500" kern="0" dirty="0">
                <a:solidFill>
                  <a:srgbClr val="B45309"/>
                </a:solidFill>
                <a:latin typeface="Calibri" pitchFamily="34" charset="0"/>
                <a:ea typeface="Calibri" pitchFamily="34" charset="-122"/>
                <a:cs typeface="Calibri" pitchFamily="34" charset="-120"/>
              </a:rPr>
              <a:t>DIDN'T</a:t>
            </a:r>
            <a:endParaRPr lang="en-US" sz="900" dirty="0"/>
          </a:p>
        </p:txBody>
      </p:sp>
      <p:sp>
        <p:nvSpPr>
          <p:cNvPr id="37" name="Text 35"/>
          <p:cNvSpPr/>
          <p:nvPr/>
        </p:nvSpPr>
        <p:spPr>
          <a:xfrm>
            <a:off x="6309360" y="4526280"/>
            <a:ext cx="2331720" cy="7772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Augmentation didn't help at this scale</a:t>
            </a:r>
            <a:endParaRPr lang="en-US" sz="1300" dirty="0"/>
          </a:p>
        </p:txBody>
      </p:sp>
      <p:sp>
        <p:nvSpPr>
          <p:cNvPr id="38" name="Text 36"/>
          <p:cNvSpPr/>
          <p:nvPr/>
        </p:nvSpPr>
        <p:spPr>
          <a:xfrm>
            <a:off x="6309360" y="5303520"/>
            <a:ext cx="2331720" cy="7772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Identical WER/CER vs no augmentation. Likely needs larger experiment.</a:t>
            </a:r>
            <a:endParaRPr lang="en-US" sz="1000" dirty="0"/>
          </a:p>
        </p:txBody>
      </p:sp>
      <p:sp>
        <p:nvSpPr>
          <p:cNvPr id="39" name="Shape 37"/>
          <p:cNvSpPr/>
          <p:nvPr/>
        </p:nvSpPr>
        <p:spPr>
          <a:xfrm>
            <a:off x="8915400" y="4023360"/>
            <a:ext cx="2697480" cy="2103120"/>
          </a:xfrm>
          <a:prstGeom prst="rect">
            <a:avLst/>
          </a:prstGeom>
          <a:solidFill>
            <a:srgbClr val="0A2540"/>
          </a:solidFill>
          <a:ln w="12700">
            <a:solidFill>
              <a:srgbClr val="0A2540"/>
            </a:solidFill>
            <a:prstDash val="solid"/>
          </a:ln>
        </p:spPr>
      </p:sp>
      <p:sp>
        <p:nvSpPr>
          <p:cNvPr id="40" name="Text 38"/>
          <p:cNvSpPr/>
          <p:nvPr/>
        </p:nvSpPr>
        <p:spPr>
          <a:xfrm>
            <a:off x="9098280" y="4206240"/>
            <a:ext cx="2331720" cy="274320"/>
          </a:xfrm>
          <a:prstGeom prst="rect">
            <a:avLst/>
          </a:prstGeom>
          <a:noFill/>
          <a:ln/>
        </p:spPr>
        <p:txBody>
          <a:bodyPr wrap="square" lIns="0" tIns="0" rIns="0" bIns="0" rtlCol="0" anchor="ctr"/>
          <a:lstStyle/>
          <a:p>
            <a:pPr indent="0" marL="0">
              <a:buNone/>
            </a:pPr>
            <a:r>
              <a:rPr lang="en-US" sz="900" b="1" spc="500" kern="0" dirty="0">
                <a:solidFill>
                  <a:srgbClr val="F4A261"/>
                </a:solidFill>
                <a:latin typeface="Calibri" pitchFamily="34" charset="0"/>
                <a:ea typeface="Calibri" pitchFamily="34" charset="-122"/>
                <a:cs typeface="Calibri" pitchFamily="34" charset="-120"/>
              </a:rPr>
              <a:t>HONEST ANALYSIS</a:t>
            </a:r>
            <a:endParaRPr lang="en-US" sz="900" dirty="0"/>
          </a:p>
        </p:txBody>
      </p:sp>
      <p:sp>
        <p:nvSpPr>
          <p:cNvPr id="41" name="Text 39"/>
          <p:cNvSpPr/>
          <p:nvPr/>
        </p:nvSpPr>
        <p:spPr>
          <a:xfrm>
            <a:off x="9098280" y="4480560"/>
            <a:ext cx="2331720" cy="8686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Two things didn't work.</a:t>
            </a:r>
            <a:endParaRPr lang="en-US" sz="1400" dirty="0"/>
          </a:p>
          <a:p>
            <a:pPr indent="0" marL="0">
              <a:buNone/>
            </a:pPr>
            <a:r>
              <a:rPr lang="en-US" sz="1400" b="1" dirty="0">
                <a:solidFill>
                  <a:srgbClr val="FFFFFF"/>
                </a:solidFill>
                <a:latin typeface="Cambria" pitchFamily="34" charset="0"/>
                <a:ea typeface="Cambria" pitchFamily="34" charset="-122"/>
                <a:cs typeface="Cambria" pitchFamily="34" charset="-120"/>
              </a:rPr>
              <a:t>We report them.</a:t>
            </a:r>
            <a:endParaRPr lang="en-US" sz="1400" dirty="0"/>
          </a:p>
        </p:txBody>
      </p:sp>
      <p:sp>
        <p:nvSpPr>
          <p:cNvPr id="42" name="Text 40"/>
          <p:cNvSpPr/>
          <p:nvPr/>
        </p:nvSpPr>
        <p:spPr>
          <a:xfrm>
            <a:off x="9098280" y="5440680"/>
            <a:ext cx="2331720" cy="64008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Reporting failures is what makes the rest of the numbers credible.</a:t>
            </a:r>
            <a:endParaRPr lang="en-US" sz="1000" dirty="0"/>
          </a:p>
        </p:txBody>
      </p:sp>
      <p:sp>
        <p:nvSpPr>
          <p:cNvPr id="43" name="Text 41"/>
          <p:cNvSpPr/>
          <p:nvPr/>
        </p:nvSpPr>
        <p:spPr>
          <a:xfrm>
            <a:off x="548640" y="653796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Arabic Long-Form ASR Improvement Pipeline  ·  Mohamed</a:t>
            </a:r>
            <a:endParaRPr lang="en-US" sz="900" dirty="0"/>
          </a:p>
        </p:txBody>
      </p:sp>
      <p:sp>
        <p:nvSpPr>
          <p:cNvPr id="44" name="Text 42"/>
          <p:cNvSpPr/>
          <p:nvPr/>
        </p:nvSpPr>
        <p:spPr>
          <a:xfrm>
            <a:off x="10972800" y="6537960"/>
            <a:ext cx="667512"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48640" y="411480"/>
            <a:ext cx="11091672" cy="292608"/>
          </a:xfrm>
          <a:prstGeom prst="rect">
            <a:avLst/>
          </a:prstGeom>
          <a:noFill/>
          <a:ln/>
        </p:spPr>
        <p:txBody>
          <a:bodyPr wrap="square" lIns="0" tIns="0" rIns="0" bIns="0" rtlCol="0" anchor="ctr"/>
          <a:lstStyle/>
          <a:p>
            <a:pPr indent="0" marL="0">
              <a:buNone/>
            </a:pPr>
            <a:r>
              <a:rPr lang="en-US" sz="1200" b="1" spc="400" kern="0" dirty="0">
                <a:solidFill>
                  <a:srgbClr val="F4A261"/>
                </a:solidFill>
                <a:latin typeface="Calibri" pitchFamily="34" charset="0"/>
                <a:ea typeface="Calibri" pitchFamily="34" charset="-122"/>
                <a:cs typeface="Calibri" pitchFamily="34" charset="-120"/>
              </a:rPr>
              <a:t>CONCLUSION &amp; FUTURE WORK</a:t>
            </a:r>
            <a:endParaRPr lang="en-US" sz="1200" dirty="0"/>
          </a:p>
        </p:txBody>
      </p:sp>
      <p:sp>
        <p:nvSpPr>
          <p:cNvPr id="3" name="Text 1"/>
          <p:cNvSpPr/>
          <p:nvPr/>
        </p:nvSpPr>
        <p:spPr>
          <a:xfrm>
            <a:off x="548640" y="685800"/>
            <a:ext cx="11091672"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Experimentally grounded, focused on ASR quality</a:t>
            </a:r>
            <a:endParaRPr lang="en-US" sz="3000" dirty="0"/>
          </a:p>
        </p:txBody>
      </p:sp>
      <p:sp>
        <p:nvSpPr>
          <p:cNvPr id="4" name="Shape 2"/>
          <p:cNvSpPr/>
          <p:nvPr/>
        </p:nvSpPr>
        <p:spPr>
          <a:xfrm>
            <a:off x="548640" y="1783080"/>
            <a:ext cx="5440680" cy="4434840"/>
          </a:xfrm>
          <a:prstGeom prst="rect">
            <a:avLst/>
          </a:prstGeom>
          <a:solidFill>
            <a:srgbClr val="12365A"/>
          </a:solidFill>
          <a:ln w="12700">
            <a:solidFill>
              <a:srgbClr val="F4A261"/>
            </a:solidFill>
            <a:prstDash val="solid"/>
          </a:ln>
        </p:spPr>
      </p:sp>
      <p:sp>
        <p:nvSpPr>
          <p:cNvPr id="5" name="Shape 3"/>
          <p:cNvSpPr/>
          <p:nvPr/>
        </p:nvSpPr>
        <p:spPr>
          <a:xfrm>
            <a:off x="548640" y="1783080"/>
            <a:ext cx="73152" cy="4434840"/>
          </a:xfrm>
          <a:prstGeom prst="rect">
            <a:avLst/>
          </a:prstGeom>
          <a:solidFill>
            <a:srgbClr val="F4A261"/>
          </a:solidFill>
          <a:ln w="12700">
            <a:solidFill>
              <a:srgbClr val="F4A261"/>
            </a:solidFill>
            <a:prstDash val="solid"/>
          </a:ln>
        </p:spPr>
      </p:sp>
      <p:sp>
        <p:nvSpPr>
          <p:cNvPr id="6" name="Text 4"/>
          <p:cNvSpPr/>
          <p:nvPr/>
        </p:nvSpPr>
        <p:spPr>
          <a:xfrm>
            <a:off x="777240" y="1920240"/>
            <a:ext cx="4983480" cy="320040"/>
          </a:xfrm>
          <a:prstGeom prst="rect">
            <a:avLst/>
          </a:prstGeom>
          <a:noFill/>
          <a:ln/>
        </p:spPr>
        <p:txBody>
          <a:bodyPr wrap="square" lIns="0" tIns="0" rIns="0" bIns="0" rtlCol="0" anchor="ctr"/>
          <a:lstStyle/>
          <a:p>
            <a:pPr indent="0" marL="0">
              <a:buNone/>
            </a:pPr>
            <a:r>
              <a:rPr lang="en-US" sz="1100" b="1" spc="400" kern="0" dirty="0">
                <a:solidFill>
                  <a:srgbClr val="F4A261"/>
                </a:solidFill>
                <a:latin typeface="Calibri" pitchFamily="34" charset="0"/>
                <a:ea typeface="Calibri" pitchFamily="34" charset="-122"/>
                <a:cs typeface="Calibri" pitchFamily="34" charset="-120"/>
              </a:rPr>
              <a:t>CONCLUSION</a:t>
            </a:r>
            <a:endParaRPr lang="en-US" sz="1100" dirty="0"/>
          </a:p>
        </p:txBody>
      </p:sp>
      <p:sp>
        <p:nvSpPr>
          <p:cNvPr id="7" name="Shape 5"/>
          <p:cNvSpPr/>
          <p:nvPr/>
        </p:nvSpPr>
        <p:spPr>
          <a:xfrm>
            <a:off x="868680" y="2496312"/>
            <a:ext cx="146304" cy="146304"/>
          </a:xfrm>
          <a:prstGeom prst="ellipse">
            <a:avLst/>
          </a:prstGeom>
          <a:solidFill>
            <a:srgbClr val="F4A261"/>
          </a:solidFill>
          <a:ln w="12700">
            <a:solidFill>
              <a:srgbClr val="F4A261"/>
            </a:solidFill>
            <a:prstDash val="solid"/>
          </a:ln>
        </p:spPr>
      </p:sp>
      <p:sp>
        <p:nvSpPr>
          <p:cNvPr id="8" name="Text 6"/>
          <p:cNvSpPr/>
          <p:nvPr/>
        </p:nvSpPr>
        <p:spPr>
          <a:xfrm>
            <a:off x="1143000" y="2377440"/>
            <a:ext cx="475488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Long-form Arabic ASR needs both pipeline engineering and model improvement</a:t>
            </a:r>
            <a:endParaRPr lang="en-US" sz="1300" dirty="0"/>
          </a:p>
        </p:txBody>
      </p:sp>
      <p:sp>
        <p:nvSpPr>
          <p:cNvPr id="9" name="Shape 7"/>
          <p:cNvSpPr/>
          <p:nvPr/>
        </p:nvSpPr>
        <p:spPr>
          <a:xfrm>
            <a:off x="868680" y="3364992"/>
            <a:ext cx="146304" cy="146304"/>
          </a:xfrm>
          <a:prstGeom prst="ellipse">
            <a:avLst/>
          </a:prstGeom>
          <a:solidFill>
            <a:srgbClr val="F4A261"/>
          </a:solidFill>
          <a:ln w="12700">
            <a:solidFill>
              <a:srgbClr val="F4A261"/>
            </a:solidFill>
            <a:prstDash val="solid"/>
          </a:ln>
        </p:spPr>
      </p:sp>
      <p:sp>
        <p:nvSpPr>
          <p:cNvPr id="10" name="Text 8"/>
          <p:cNvSpPr/>
          <p:nvPr/>
        </p:nvSpPr>
        <p:spPr>
          <a:xfrm>
            <a:off x="1143000" y="3246120"/>
            <a:ext cx="475488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Chunking, reconstruction, normalization, and WER/CER make the system measurable</a:t>
            </a:r>
            <a:endParaRPr lang="en-US" sz="1300" dirty="0"/>
          </a:p>
        </p:txBody>
      </p:sp>
      <p:sp>
        <p:nvSpPr>
          <p:cNvPr id="11" name="Shape 9"/>
          <p:cNvSpPr/>
          <p:nvPr/>
        </p:nvSpPr>
        <p:spPr>
          <a:xfrm>
            <a:off x="868680" y="4233672"/>
            <a:ext cx="146304" cy="146304"/>
          </a:xfrm>
          <a:prstGeom prst="ellipse">
            <a:avLst/>
          </a:prstGeom>
          <a:solidFill>
            <a:srgbClr val="F4A261"/>
          </a:solidFill>
          <a:ln w="12700">
            <a:solidFill>
              <a:srgbClr val="F4A261"/>
            </a:solidFill>
            <a:prstDash val="solid"/>
          </a:ln>
        </p:spPr>
      </p:sp>
      <p:sp>
        <p:nvSpPr>
          <p:cNvPr id="12" name="Text 10"/>
          <p:cNvSpPr/>
          <p:nvPr/>
        </p:nvSpPr>
        <p:spPr>
          <a:xfrm>
            <a:off x="1143000" y="4114800"/>
            <a:ext cx="475488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Fine-tuning produced clear model-level improvement</a:t>
            </a:r>
            <a:endParaRPr lang="en-US" sz="1300" dirty="0"/>
          </a:p>
        </p:txBody>
      </p:sp>
      <p:sp>
        <p:nvSpPr>
          <p:cNvPr id="13" name="Shape 11"/>
          <p:cNvSpPr/>
          <p:nvPr/>
        </p:nvSpPr>
        <p:spPr>
          <a:xfrm>
            <a:off x="868680" y="5102352"/>
            <a:ext cx="146304" cy="146304"/>
          </a:xfrm>
          <a:prstGeom prst="ellipse">
            <a:avLst/>
          </a:prstGeom>
          <a:solidFill>
            <a:srgbClr val="F4A261"/>
          </a:solidFill>
          <a:ln w="12700">
            <a:solidFill>
              <a:srgbClr val="F4A261"/>
            </a:solidFill>
            <a:prstDash val="solid"/>
          </a:ln>
        </p:spPr>
      </p:sp>
      <p:sp>
        <p:nvSpPr>
          <p:cNvPr id="14" name="Text 12"/>
          <p:cNvSpPr/>
          <p:nvPr/>
        </p:nvSpPr>
        <p:spPr>
          <a:xfrm>
            <a:off x="1143000" y="4983480"/>
            <a:ext cx="475488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optional clipper demonstrates practical reuse for digital media &amp; education</a:t>
            </a:r>
            <a:endParaRPr lang="en-US" sz="1300" dirty="0"/>
          </a:p>
        </p:txBody>
      </p:sp>
      <p:sp>
        <p:nvSpPr>
          <p:cNvPr id="15" name="Shape 13"/>
          <p:cNvSpPr/>
          <p:nvPr/>
        </p:nvSpPr>
        <p:spPr>
          <a:xfrm>
            <a:off x="6199632" y="1783080"/>
            <a:ext cx="5440680" cy="4434840"/>
          </a:xfrm>
          <a:prstGeom prst="rect">
            <a:avLst/>
          </a:prstGeom>
          <a:solidFill>
            <a:srgbClr val="FFFFFF"/>
          </a:solidFill>
          <a:ln w="12700">
            <a:solidFill>
              <a:srgbClr val="FFFFFF"/>
            </a:solidFill>
            <a:prstDash val="solid"/>
          </a:ln>
        </p:spPr>
      </p:sp>
      <p:sp>
        <p:nvSpPr>
          <p:cNvPr id="16" name="Text 14"/>
          <p:cNvSpPr/>
          <p:nvPr/>
        </p:nvSpPr>
        <p:spPr>
          <a:xfrm>
            <a:off x="6428232" y="1920240"/>
            <a:ext cx="4983480" cy="320040"/>
          </a:xfrm>
          <a:prstGeom prst="rect">
            <a:avLst/>
          </a:prstGeom>
          <a:noFill/>
          <a:ln/>
        </p:spPr>
        <p:txBody>
          <a:bodyPr wrap="square" lIns="0" tIns="0" rIns="0" bIns="0" rtlCol="0" anchor="ctr"/>
          <a:lstStyle/>
          <a:p>
            <a:pPr indent="0" marL="0">
              <a:buNone/>
            </a:pPr>
            <a:r>
              <a:rPr lang="en-US" sz="1100" b="1" spc="400" kern="0" dirty="0">
                <a:solidFill>
                  <a:srgbClr val="065A82"/>
                </a:solidFill>
                <a:latin typeface="Calibri" pitchFamily="34" charset="0"/>
                <a:ea typeface="Calibri" pitchFamily="34" charset="-122"/>
                <a:cs typeface="Calibri" pitchFamily="34" charset="-120"/>
              </a:rPr>
              <a:t>FUTURE WORK · ROADMAP</a:t>
            </a:r>
            <a:endParaRPr lang="en-US" sz="1100" dirty="0"/>
          </a:p>
        </p:txBody>
      </p:sp>
      <p:sp>
        <p:nvSpPr>
          <p:cNvPr id="17" name="Shape 15"/>
          <p:cNvSpPr/>
          <p:nvPr/>
        </p:nvSpPr>
        <p:spPr>
          <a:xfrm>
            <a:off x="6428232" y="2377440"/>
            <a:ext cx="292608" cy="292608"/>
          </a:xfrm>
          <a:prstGeom prst="ellipse">
            <a:avLst/>
          </a:prstGeom>
          <a:solidFill>
            <a:srgbClr val="065A82"/>
          </a:solidFill>
          <a:ln w="12700">
            <a:solidFill>
              <a:srgbClr val="065A82"/>
            </a:solidFill>
            <a:prstDash val="solid"/>
          </a:ln>
        </p:spPr>
      </p:sp>
      <p:sp>
        <p:nvSpPr>
          <p:cNvPr id="18" name="Text 16"/>
          <p:cNvSpPr/>
          <p:nvPr/>
        </p:nvSpPr>
        <p:spPr>
          <a:xfrm>
            <a:off x="6428232" y="23774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9" name="Text 17"/>
          <p:cNvSpPr/>
          <p:nvPr/>
        </p:nvSpPr>
        <p:spPr>
          <a:xfrm>
            <a:off x="6812280" y="2331720"/>
            <a:ext cx="461772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Evaluate fine-tuned model inside the 30+ min long-form pipeline</a:t>
            </a:r>
            <a:endParaRPr lang="en-US" sz="1200" dirty="0"/>
          </a:p>
        </p:txBody>
      </p:sp>
      <p:sp>
        <p:nvSpPr>
          <p:cNvPr id="20" name="Shape 18"/>
          <p:cNvSpPr/>
          <p:nvPr/>
        </p:nvSpPr>
        <p:spPr>
          <a:xfrm>
            <a:off x="6428232" y="2880360"/>
            <a:ext cx="292608" cy="292608"/>
          </a:xfrm>
          <a:prstGeom prst="ellipse">
            <a:avLst/>
          </a:prstGeom>
          <a:solidFill>
            <a:srgbClr val="065A82"/>
          </a:solidFill>
          <a:ln w="12700">
            <a:solidFill>
              <a:srgbClr val="065A82"/>
            </a:solidFill>
            <a:prstDash val="solid"/>
          </a:ln>
        </p:spPr>
      </p:sp>
      <p:sp>
        <p:nvSpPr>
          <p:cNvPr id="21" name="Text 19"/>
          <p:cNvSpPr/>
          <p:nvPr/>
        </p:nvSpPr>
        <p:spPr>
          <a:xfrm>
            <a:off x="6428232" y="28803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2" name="Text 20"/>
          <p:cNvSpPr/>
          <p:nvPr/>
        </p:nvSpPr>
        <p:spPr>
          <a:xfrm>
            <a:off x="6812280" y="2834640"/>
            <a:ext cx="461772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Use larger Arabic / domain-specific training data</a:t>
            </a:r>
            <a:endParaRPr lang="en-US" sz="1200" dirty="0"/>
          </a:p>
        </p:txBody>
      </p:sp>
      <p:sp>
        <p:nvSpPr>
          <p:cNvPr id="23" name="Shape 21"/>
          <p:cNvSpPr/>
          <p:nvPr/>
        </p:nvSpPr>
        <p:spPr>
          <a:xfrm>
            <a:off x="6428232" y="3383280"/>
            <a:ext cx="292608" cy="292608"/>
          </a:xfrm>
          <a:prstGeom prst="ellipse">
            <a:avLst/>
          </a:prstGeom>
          <a:solidFill>
            <a:srgbClr val="065A82"/>
          </a:solidFill>
          <a:ln w="12700">
            <a:solidFill>
              <a:srgbClr val="065A82"/>
            </a:solidFill>
            <a:prstDash val="solid"/>
          </a:ln>
        </p:spPr>
      </p:sp>
      <p:sp>
        <p:nvSpPr>
          <p:cNvPr id="24" name="Text 22"/>
          <p:cNvSpPr/>
          <p:nvPr/>
        </p:nvSpPr>
        <p:spPr>
          <a:xfrm>
            <a:off x="6428232" y="33832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5" name="Text 23"/>
          <p:cNvSpPr/>
          <p:nvPr/>
        </p:nvSpPr>
        <p:spPr>
          <a:xfrm>
            <a:off x="6812280" y="3337560"/>
            <a:ext cx="461772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Test khutbahs, lectures, podcasts, and interviews</a:t>
            </a:r>
            <a:endParaRPr lang="en-US" sz="1200" dirty="0"/>
          </a:p>
        </p:txBody>
      </p:sp>
      <p:sp>
        <p:nvSpPr>
          <p:cNvPr id="26" name="Shape 24"/>
          <p:cNvSpPr/>
          <p:nvPr/>
        </p:nvSpPr>
        <p:spPr>
          <a:xfrm>
            <a:off x="6428232" y="3886200"/>
            <a:ext cx="292608" cy="292608"/>
          </a:xfrm>
          <a:prstGeom prst="ellipse">
            <a:avLst/>
          </a:prstGeom>
          <a:solidFill>
            <a:srgbClr val="065A82"/>
          </a:solidFill>
          <a:ln w="12700">
            <a:solidFill>
              <a:srgbClr val="065A82"/>
            </a:solidFill>
            <a:prstDash val="solid"/>
          </a:ln>
        </p:spPr>
      </p:sp>
      <p:sp>
        <p:nvSpPr>
          <p:cNvPr id="27" name="Text 25"/>
          <p:cNvSpPr/>
          <p:nvPr/>
        </p:nvSpPr>
        <p:spPr>
          <a:xfrm>
            <a:off x="6428232" y="388620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p:nvPr/>
        </p:nvSpPr>
        <p:spPr>
          <a:xfrm>
            <a:off x="6812280" y="3840480"/>
            <a:ext cx="461772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Tune augmentation settings</a:t>
            </a:r>
            <a:endParaRPr lang="en-US" sz="1200" dirty="0"/>
          </a:p>
        </p:txBody>
      </p:sp>
      <p:sp>
        <p:nvSpPr>
          <p:cNvPr id="29" name="Shape 27"/>
          <p:cNvSpPr/>
          <p:nvPr/>
        </p:nvSpPr>
        <p:spPr>
          <a:xfrm>
            <a:off x="6428232" y="4389120"/>
            <a:ext cx="292608" cy="292608"/>
          </a:xfrm>
          <a:prstGeom prst="ellipse">
            <a:avLst/>
          </a:prstGeom>
          <a:solidFill>
            <a:srgbClr val="065A82"/>
          </a:solidFill>
          <a:ln w="12700">
            <a:solidFill>
              <a:srgbClr val="065A82"/>
            </a:solidFill>
            <a:prstDash val="solid"/>
          </a:ln>
        </p:spPr>
      </p:sp>
      <p:sp>
        <p:nvSpPr>
          <p:cNvPr id="30" name="Text 28"/>
          <p:cNvSpPr/>
          <p:nvPr/>
        </p:nvSpPr>
        <p:spPr>
          <a:xfrm>
            <a:off x="6428232" y="43891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1" name="Text 29"/>
          <p:cNvSpPr/>
          <p:nvPr/>
        </p:nvSpPr>
        <p:spPr>
          <a:xfrm>
            <a:off x="6812280" y="4343400"/>
            <a:ext cx="461772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Add punctuation restoration</a:t>
            </a:r>
            <a:endParaRPr lang="en-US" sz="1200" dirty="0"/>
          </a:p>
        </p:txBody>
      </p:sp>
      <p:sp>
        <p:nvSpPr>
          <p:cNvPr id="32" name="Shape 30"/>
          <p:cNvSpPr/>
          <p:nvPr/>
        </p:nvSpPr>
        <p:spPr>
          <a:xfrm>
            <a:off x="6428232" y="4892040"/>
            <a:ext cx="292608" cy="292608"/>
          </a:xfrm>
          <a:prstGeom prst="ellipse">
            <a:avLst/>
          </a:prstGeom>
          <a:solidFill>
            <a:srgbClr val="065A82"/>
          </a:solidFill>
          <a:ln w="12700">
            <a:solidFill>
              <a:srgbClr val="065A82"/>
            </a:solidFill>
            <a:prstDash val="solid"/>
          </a:ln>
        </p:spPr>
      </p:sp>
      <p:sp>
        <p:nvSpPr>
          <p:cNvPr id="33" name="Text 31"/>
          <p:cNvSpPr/>
          <p:nvPr/>
        </p:nvSpPr>
        <p:spPr>
          <a:xfrm>
            <a:off x="6428232" y="48920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4" name="Text 32"/>
          <p:cNvSpPr/>
          <p:nvPr/>
        </p:nvSpPr>
        <p:spPr>
          <a:xfrm>
            <a:off x="6812280" y="4846320"/>
            <a:ext cx="461772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Add speaker diarization</a:t>
            </a:r>
            <a:endParaRPr lang="en-US" sz="1200" dirty="0"/>
          </a:p>
        </p:txBody>
      </p:sp>
      <p:sp>
        <p:nvSpPr>
          <p:cNvPr id="35" name="Shape 33"/>
          <p:cNvSpPr/>
          <p:nvPr/>
        </p:nvSpPr>
        <p:spPr>
          <a:xfrm>
            <a:off x="6428232" y="5394960"/>
            <a:ext cx="292608" cy="292608"/>
          </a:xfrm>
          <a:prstGeom prst="ellipse">
            <a:avLst/>
          </a:prstGeom>
          <a:solidFill>
            <a:srgbClr val="065A82"/>
          </a:solidFill>
          <a:ln w="12700">
            <a:solidFill>
              <a:srgbClr val="065A82"/>
            </a:solidFill>
            <a:prstDash val="solid"/>
          </a:ln>
        </p:spPr>
      </p:sp>
      <p:sp>
        <p:nvSpPr>
          <p:cNvPr id="36" name="Text 34"/>
          <p:cNvSpPr/>
          <p:nvPr/>
        </p:nvSpPr>
        <p:spPr>
          <a:xfrm>
            <a:off x="6428232" y="53949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7" name="Text 35"/>
          <p:cNvSpPr/>
          <p:nvPr/>
        </p:nvSpPr>
        <p:spPr>
          <a:xfrm>
            <a:off x="6812280" y="5349240"/>
            <a:ext cx="461772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Test stronger Whisper models</a:t>
            </a:r>
            <a:endParaRPr lang="en-US" sz="1200" dirty="0"/>
          </a:p>
        </p:txBody>
      </p:sp>
      <p:sp>
        <p:nvSpPr>
          <p:cNvPr id="38" name="Shape 36"/>
          <p:cNvSpPr/>
          <p:nvPr/>
        </p:nvSpPr>
        <p:spPr>
          <a:xfrm>
            <a:off x="548640" y="6355080"/>
            <a:ext cx="11091672" cy="45720"/>
          </a:xfrm>
          <a:prstGeom prst="rect">
            <a:avLst/>
          </a:prstGeom>
          <a:solidFill>
            <a:srgbClr val="F4A261"/>
          </a:solidFill>
          <a:ln w="12700">
            <a:solidFill>
              <a:srgbClr val="F4A261"/>
            </a:solidFill>
            <a:prstDash val="solid"/>
          </a:ln>
        </p:spPr>
      </p:sp>
      <p:sp>
        <p:nvSpPr>
          <p:cNvPr id="39" name="Text 37"/>
          <p:cNvSpPr/>
          <p:nvPr/>
        </p:nvSpPr>
        <p:spPr>
          <a:xfrm>
            <a:off x="548640" y="6492240"/>
            <a:ext cx="8229600" cy="27432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Thank you  ·  Questions?</a:t>
            </a:r>
            <a:endParaRPr lang="en-US" sz="1400" dirty="0"/>
          </a:p>
        </p:txBody>
      </p:sp>
      <p:sp>
        <p:nvSpPr>
          <p:cNvPr id="40" name="Text 38"/>
          <p:cNvSpPr/>
          <p:nvPr/>
        </p:nvSpPr>
        <p:spPr>
          <a:xfrm>
            <a:off x="8229600" y="6492240"/>
            <a:ext cx="3410712"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Mohamed  ·  Arabic Long-Form ASR Pipeline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Arabic Long-Form ASR Improvement Pipeline</dc:title>
  <dc:subject>PptxGenJS Presentation</dc:subject>
  <dc:creator>Mohamed</dc:creator>
  <cp:lastModifiedBy>Mohamed</cp:lastModifiedBy>
  <cp:revision>1</cp:revision>
  <dcterms:created xsi:type="dcterms:W3CDTF">2026-04-30T00:04:27Z</dcterms:created>
  <dcterms:modified xsi:type="dcterms:W3CDTF">2026-04-30T00:04:27Z</dcterms:modified>
</cp:coreProperties>
</file>